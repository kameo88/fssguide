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7" r:id="rId3"/>
    <p:sldId id="279" r:id="rId4"/>
    <p:sldId id="259" r:id="rId5"/>
    <p:sldId id="358" r:id="rId6"/>
    <p:sldId id="360" r:id="rId7"/>
    <p:sldId id="361" r:id="rId8"/>
    <p:sldId id="362" r:id="rId9"/>
    <p:sldId id="363" r:id="rId10"/>
    <p:sldId id="365" r:id="rId11"/>
    <p:sldId id="364" r:id="rId12"/>
    <p:sldId id="366" r:id="rId13"/>
    <p:sldId id="359" r:id="rId14"/>
    <p:sldId id="348" r:id="rId15"/>
    <p:sldId id="368" r:id="rId16"/>
    <p:sldId id="369" r:id="rId17"/>
    <p:sldId id="370" r:id="rId18"/>
    <p:sldId id="371" r:id="rId19"/>
    <p:sldId id="372" r:id="rId20"/>
    <p:sldId id="367" r:id="rId21"/>
    <p:sldId id="350" r:id="rId22"/>
    <p:sldId id="351" r:id="rId23"/>
    <p:sldId id="352" r:id="rId24"/>
    <p:sldId id="353" r:id="rId25"/>
    <p:sldId id="354" r:id="rId26"/>
    <p:sldId id="37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. 표지" id="{D6C9C8B8-672F-4665-A057-547CC8965394}">
          <p14:sldIdLst/>
        </p14:section>
        <p14:section name="01. 목차" id="{06C1232C-EEFA-490F-96F2-B8C7251D2D64}">
          <p14:sldIdLst/>
        </p14:section>
        <p14:section name="02. 가이드라인 개요" id="{70E8C95E-6423-4806-8A99-5811B0FCA488}">
          <p14:sldIdLst/>
        </p14:section>
        <p14:section name="03. 진단 항목" id="{2580F87D-598A-4B52-97EC-F682A1EFFD99}">
          <p14:sldIdLst/>
        </p14:section>
        <p14:section name="04. 진단 결과==임시" id="{40EE5A22-584A-4D5C-97FA-9C1F0613FB51}">
          <p14:sldIdLst/>
        </p14:section>
        <p14:section name=" 04-1. 컴포넌트" id="{327CBB4B-1CF7-4BD4-A3F6-D6FED4307EB3}">
          <p14:sldIdLst>
            <p14:sldId id="256"/>
            <p14:sldId id="277"/>
            <p14:sldId id="279"/>
            <p14:sldId id="259"/>
            <p14:sldId id="358"/>
            <p14:sldId id="360"/>
            <p14:sldId id="361"/>
            <p14:sldId id="362"/>
            <p14:sldId id="363"/>
            <p14:sldId id="365"/>
            <p14:sldId id="364"/>
            <p14:sldId id="366"/>
            <p14:sldId id="359"/>
            <p14:sldId id="348"/>
            <p14:sldId id="368"/>
            <p14:sldId id="369"/>
            <p14:sldId id="370"/>
            <p14:sldId id="371"/>
            <p14:sldId id="372"/>
            <p14:sldId id="367"/>
            <p14:sldId id="350"/>
            <p14:sldId id="351"/>
            <p14:sldId id="352"/>
            <p14:sldId id="353"/>
            <p14:sldId id="354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EEA"/>
    <a:srgbClr val="FFFFE1"/>
    <a:srgbClr val="FFF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7" autoAdjust="0"/>
    <p:restoredTop sz="94673"/>
  </p:normalViewPr>
  <p:slideViewPr>
    <p:cSldViewPr snapToGrid="0">
      <p:cViewPr>
        <p:scale>
          <a:sx n="103" d="100"/>
          <a:sy n="103" d="100"/>
        </p:scale>
        <p:origin x="48" y="15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224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2292F-8043-4AB4-95FA-61ACD742F01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ABECD-DB74-4914-AB2D-0EBB7AFC9C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1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96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803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57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645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AD5E5-FABF-C54F-F7B6-B84D3397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A18D15-58A5-F4E0-47CB-22AF76FDB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4044F8-C201-25A1-81A2-D0F3897C8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C981B-E2DF-07C8-79CC-9C3B41D58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574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6F4A-6E36-DD0D-9235-67F8AAB1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D84664-71FA-39DC-4608-4FFB045F5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F9044F-8179-32E1-C515-184FBF1B1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79964-94DA-A3C1-031D-037370A0D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696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A67E-217E-2D1B-92DD-45EB355F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1BD443-7AFD-5C0F-261B-03828CD06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0C7BAD-3BCC-3274-4FEB-0F9A1B39A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CD6C53-B5D0-48B4-6FCD-5636CA1BE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333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55DC-FCDD-092D-59C3-F7B5FAAE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661C1-81F7-A029-9167-34B94A7B0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8F1499-49EB-C9FB-F3CD-7041819F8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4A7CD-62EA-CFD0-7834-8A7C6E36A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84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60CF-478E-79E6-0D27-983EBDF0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CC6216-A793-2AF1-60C5-1592F6AFF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49508A-E004-84F5-D86F-1DB5C1A4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EC208-F707-591E-942E-00126C458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178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72E8-88D9-4022-CDEC-9316A112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78647-EE00-A533-693C-B04DEDA93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B8022B-CDEF-A09B-1131-A8D4019BB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5B456-2B9D-F421-2916-26815A83F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676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C6D2-5B01-FEE6-4648-BC26181B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89A8FE-6BBC-C8D6-4C5E-951DB20E1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860229-B27E-DC5F-69E8-E49CCACDD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26FDB-CC7F-F117-625E-F1E262D99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068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261E-E9A7-71E1-BE6A-A0BB7EFA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D2F31E-4086-5B02-B95A-93107610A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8E5359-B151-4AB3-1F0E-34794CB9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9FA4B-7068-9463-EB31-8CBB16B25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884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FBF2-658F-4EF6-346C-DD1844B9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82F7CE-51E3-8343-1F6C-75F166311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8992DA-6C59-3AA1-4A7F-62418DF2D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6629F-66D3-20C9-2BD7-14D679AD4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27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025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0773-827E-354F-F781-E014B9D01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1C484C-DFEB-EC20-FAD7-A5E4A86C7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6E2EA5-103A-00CE-EEA3-469833ABA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545313-D6E0-56CA-7925-4E1DF322E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523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9DAD-FC1D-F65F-19B7-1ADBA284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BF98E0-F952-7B99-A729-FA4DD7AFA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01A2E-5724-F0BF-1380-5406E48A8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5C7A9-E51D-3425-3446-6C280323E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02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DAA2-CA9C-A58C-77DD-0CB9C92A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F14EF2-1128-9E03-F12A-0E2A72952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77B38-F12C-9CAE-D7E2-6A1A71EE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CD528-5EFF-D247-91CF-68E4168F4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959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B0A1-95DF-FBA0-7279-E51914A6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6CBC52-4786-1BF8-F556-29336F391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AB2D09-535D-D858-C8C8-C9922B006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ED2929-BDDC-CC94-723A-6E628D6F1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426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03DC-0688-5BC0-5FEE-0BF7726F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FF799D-5047-6A38-8DD6-7240CFD78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DD42B7-A441-D0B6-2694-8DDB19D07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AEFDB-E6EF-C186-1260-388461CEF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567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CB14-0BF1-5474-ACF6-6B8BA657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D9F36E-3487-E0C6-BF49-B4399438E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872298-B494-78A1-C55F-8EB923E8A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80E21-68E8-8F41-1383-9D69B9737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814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521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582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351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706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408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3093-254A-A297-4D68-4BE7D891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E830B-A502-BBF3-C8FD-82205F71E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8C1E72-8496-C6B9-639F-9DD694BC9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5D1B9D-305D-4B52-6CC2-F44CE84D7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ABECD-DB74-4914-AB2D-0EBB7AFC9C0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215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8AB70-C52C-ABB3-58BE-EACE5DBEA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1130D-7BB4-52EF-8754-38BFAB91E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D9FD7-E160-E0C5-2749-AFE17CE9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F8A195-EA77-CA6D-DA59-27438D21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485AC-AD4E-80E6-88B9-45AD040D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1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4EC20-0485-193D-D92E-675E5103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C1416-CE6A-C890-8039-02E6A292C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97483-7E4D-1607-FFD8-3F54C252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EBFC85-6242-96A3-0750-41C816B1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B1DF36-2B16-1F70-CBBD-92215A6E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01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D6065-1DFD-E577-F8B4-356421F3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636DBE-473B-B4F5-5845-C848A2271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F07D9F-C8D0-D514-FC4B-A2F22D4B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FA91D-96EB-8CE1-DECF-1671580E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F2A1F-9A5A-6EDF-9D8D-0A0BA06A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E50ED-6755-227E-EB15-01B45F5E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D89F3-871D-38A6-200A-5518F0CF4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1610EA-1EDB-2C8C-97D4-6BFFBC5E6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77FA09-7FBE-12BA-558F-629A8C52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D8B64C-1AE1-547B-A1CB-B4588B72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6310B2-CBD7-0A82-357B-9AB28FC8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56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B5ECE-E7E4-7CCC-586F-5793611C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EB3D8D-386E-B7C7-51DD-70CB2B6AB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3D4187-A189-5BDA-1E1C-F1AF15C32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598902-F90C-DF78-A669-863E086C3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3C1582-6A00-741D-9F50-022C90FCF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3B1505-C8F2-B218-FE23-F6049B12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1BA020-C7AD-D9C5-8D29-F69DE535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20FE82-3FFD-BB66-6940-9AA57BB6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63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C3F84-3A71-36D9-B019-2B095153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DE388A-FCBB-EEAC-00D9-8E50858D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3F9C4A-DA65-211A-94F9-80676572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E9724D-230D-8BCA-CA8B-A91D8650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6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DF8613-D57A-4D8C-BA57-6571A0BF47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084"/>
          <a:stretch/>
        </p:blipFill>
        <p:spPr>
          <a:xfrm>
            <a:off x="316280" y="6485273"/>
            <a:ext cx="1004125" cy="311087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A73B77B-2906-54AB-7BCD-E7C0367D4409}"/>
              </a:ext>
            </a:extLst>
          </p:cNvPr>
          <p:cNvCxnSpPr>
            <a:cxnSpLocks/>
          </p:cNvCxnSpPr>
          <p:nvPr userDrawn="1"/>
        </p:nvCxnSpPr>
        <p:spPr>
          <a:xfrm>
            <a:off x="1373745" y="6678916"/>
            <a:ext cx="1058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89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18D05-9B09-BC94-6619-D45E73E2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A53DE-0BEA-6C9B-D551-56A145A8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B8571-AC73-0072-621A-C30BCFA7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9C0983-A6BE-9C14-4719-FE8E878B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B9E85C-1273-5D27-394D-2944D22E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F9C75F-26FA-C155-1206-272C7585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9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E6229-97BF-0398-B8A7-2A7493BE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39A3E4-6D2C-8150-6F85-1AB61458C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D40BE0-B378-C335-7CE4-A5E831F75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05D88-317C-9AD1-CA8E-CCC983E3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11C8C1-F560-4E65-BD02-D5609CE7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04DCFD-58C5-789A-15C8-58C1CB0D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91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DD6F7-AA5F-AD2F-C3D2-22713849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0BDBFD-51CD-61BF-E675-3BA3FC6E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9884BD-E62E-4C4C-6F30-05D056DF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9C1203-5F06-13A9-E530-2027F4701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262116-ECD5-7CC5-514D-E6604BB1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6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FD6AEC-51DB-8D65-7414-34D80FE17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2E035E-0594-3E13-8C40-4409812B8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9CAA5-7E49-830D-0A0E-EEDED50F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46E92-4AFC-366C-85D0-E52D9702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B16E2-0403-C83D-3666-DB709C29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09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50DD2C-7E06-ACE7-E4AD-CC0EE6FC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4788C-5F02-FE07-8094-85AA0300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C0FDE5-9E6E-B70D-0D0C-39D4C93D1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49298-3074-4E25-977C-7411153D43C5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E9DB9-4763-ED31-C4E5-7947DCBE4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2262A8-6970-370C-651C-9BD8CCF89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4671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CFEE3-7A7D-48C6-874C-ADB22DF1C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96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ss.or.kr/fss/main/main.do?menuNo=20000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ss.or.kr/fss/main/main.do?menuNo=20000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www.fss.or.kr/fss/main/main.do?menuNo=20000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www.moel.go.kr/index.do" TargetMode="External"/><Relationship Id="rId4" Type="http://schemas.openxmlformats.org/officeDocument/2006/relationships/hyperlink" Target="https://www.fss.or.kr/fss/main/main.do?menuNo=20000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hyperlink" Target="https://www.fss.or.kr/fss/main/main.do?menuNo=20000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hyperlink" Target="https://www.fss.or.kr/fss/main/main.do?menuNo=20000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ss.or.kr/fss/main/main.do?menuNo=200000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hyperlink" Target="https://www.fss.or.kr/fss/main/main.do?menuNo=20000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hyperlink" Target="https://www.fss.or.kr/fss/main/main.do?menuNo=200000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ss.or.kr/fss/main/main.do?menuNo=200000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hyperlink" Target="https://www.moel.go.kr/index.do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ss.or.kr/fss/main/main.do?menuNo=200000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ss.or.kr/fss/main/main.do?menuNo=200000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hyperlink" Target="https://www.fss.or.kr/fss/main/main.do?menuNo=200000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hyperlink" Target="https://www.fss.or.kr/fss/main/main.do?menuNo=200000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hyperlink" Target="https://www.fss.or.kr/fss/cvpl/empKd/forInsertAgre.do?menuNo=200098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cvpl/empKd/forInsertAgre.do?menuNo=200098" TargetMode="Externa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cvpl/empKd/forInsertAgre.do?menuNo=200098" TargetMode="Externa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ss.or.kr/fss/main/main.do?menuNo=200000" TargetMode="Externa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ss.or.kr/fss/cvpl/empKd/forInsertAgre.do?menuNo=2000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AFA1133-FBD7-D10E-3CF0-6A70B9F4B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738"/>
            <a:ext cx="7569589" cy="30672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1-1.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아이덴티티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BC3322-BA0B-8E34-BDBF-D59635EE0914}"/>
              </a:ext>
            </a:extLst>
          </p:cNvPr>
          <p:cNvSpPr/>
          <p:nvPr/>
        </p:nvSpPr>
        <p:spPr>
          <a:xfrm>
            <a:off x="408605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386939"/>
            <a:ext cx="4492507" cy="1277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전자정부 공식 웹사이트 안내 영역인 공식 배너가 제공되지 않았으나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페이지 최상단에 위치함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386940"/>
            <a:ext cx="3984958" cy="1277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1-1-1.1 </a:t>
            </a:r>
            <a:r>
              <a:rPr lang="ko-KR" altLang="en-US" sz="1000" dirty="0">
                <a:solidFill>
                  <a:schemeClr val="tx1"/>
                </a:solidFill>
              </a:rPr>
              <a:t>건너뛰기 링크는 공식 배너 이전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최상단에 제공해야 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1-1-1.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공식 배너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620" y="284395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61825D-DBCA-47E0-AA82-F2FB8971E181}"/>
              </a:ext>
            </a:extLst>
          </p:cNvPr>
          <p:cNvSpPr/>
          <p:nvPr/>
        </p:nvSpPr>
        <p:spPr>
          <a:xfrm>
            <a:off x="6427367" y="1386938"/>
            <a:ext cx="778567" cy="1278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9903F8E-0247-4ECF-8471-CBBE8C1228DD}"/>
              </a:ext>
            </a:extLst>
          </p:cNvPr>
          <p:cNvSpPr/>
          <p:nvPr/>
        </p:nvSpPr>
        <p:spPr>
          <a:xfrm>
            <a:off x="518956" y="3388967"/>
            <a:ext cx="1671794" cy="443032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7602C9-5DA2-06E1-72F7-8A2A96A2D0B3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</p:spTree>
    <p:extLst>
      <p:ext uri="{BB962C8B-B14F-4D97-AF65-F5344CB8AC3E}">
        <p14:creationId xmlns:p14="http://schemas.microsoft.com/office/powerpoint/2010/main" val="66759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3E4994A-72FA-AE39-0AAA-2186A28DD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5369890" cy="8700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1-1.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아이덴티티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푸터가</a:t>
            </a:r>
            <a:r>
              <a:rPr lang="ko-KR" altLang="en-US" sz="1000" dirty="0">
                <a:solidFill>
                  <a:schemeClr val="tx1"/>
                </a:solidFill>
              </a:rPr>
              <a:t> 항상 문서의 마지막 요소로 제공되어야 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1-1-2.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운영기관 </a:t>
            </a:r>
            <a:r>
              <a:rPr lang="ko-KR" altLang="en-US" sz="1000" dirty="0" err="1">
                <a:solidFill>
                  <a:schemeClr val="tx1"/>
                </a:solidFill>
              </a:rPr>
              <a:t>식별자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68E940-0442-4ADE-BA22-214EDFA653A5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1-1-2.1</a:t>
            </a:r>
            <a:r>
              <a:rPr lang="ko-KR" altLang="en-US" sz="1000" dirty="0">
                <a:solidFill>
                  <a:schemeClr val="tx1"/>
                </a:solidFill>
              </a:rPr>
              <a:t> 식별자 영역은 구조적으로 </a:t>
            </a:r>
            <a:r>
              <a:rPr lang="ko-KR" altLang="en-US" sz="1000" dirty="0" err="1">
                <a:solidFill>
                  <a:schemeClr val="tx1"/>
                </a:solidFill>
              </a:rPr>
              <a:t>푸터</a:t>
            </a:r>
            <a:r>
              <a:rPr lang="ko-KR" altLang="en-US" sz="1000" dirty="0">
                <a:solidFill>
                  <a:schemeClr val="tx1"/>
                </a:solidFill>
              </a:rPr>
              <a:t> 내부에 포함되도록 제공해야 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51F3DB-A25D-4369-AB1E-72112BFFC9AE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1-1-2.2</a:t>
            </a:r>
            <a:r>
              <a:rPr lang="ko-KR" altLang="en-US" sz="1000" dirty="0">
                <a:solidFill>
                  <a:schemeClr val="tx1"/>
                </a:solidFill>
              </a:rPr>
              <a:t> 로고 이미지에 대체 텍스트를 제공함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5FEAF4-E5C0-4AF4-9E6C-02F98949A354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D18A78-C13B-4ED1-993D-41CBFA5CCB22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7CB9B8-ED8D-59A3-2A5B-905871C1230C}"/>
              </a:ext>
            </a:extLst>
          </p:cNvPr>
          <p:cNvSpPr/>
          <p:nvPr/>
        </p:nvSpPr>
        <p:spPr>
          <a:xfrm>
            <a:off x="7290885" y="2052000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이미지 로고를 사용하는 경우 스크린 리더를 위한 대체 텍스트를 제공해야 함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342F9AE-E53B-7D97-A993-AE17BA63F957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CB7FB5-AC55-230E-1B4D-768D7A2056D3}"/>
              </a:ext>
            </a:extLst>
          </p:cNvPr>
          <p:cNvSpPr txBox="1"/>
          <p:nvPr/>
        </p:nvSpPr>
        <p:spPr>
          <a:xfrm>
            <a:off x="538620" y="284395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endParaRPr lang="ko-KR" altLang="en-US" sz="10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C5496B-F512-F7EF-5556-AF07EEFE3A02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806339-0B4A-074A-27DE-CFBADF527704}"/>
              </a:ext>
            </a:extLst>
          </p:cNvPr>
          <p:cNvSpPr txBox="1"/>
          <p:nvPr/>
        </p:nvSpPr>
        <p:spPr>
          <a:xfrm>
            <a:off x="547565" y="4461047"/>
            <a:ext cx="21162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rgbClr val="FF0000"/>
                </a:solidFill>
              </a:rPr>
              <a:t>푸터</a:t>
            </a:r>
            <a:r>
              <a:rPr lang="ko-KR" altLang="en-US" sz="900" dirty="0">
                <a:solidFill>
                  <a:srgbClr val="FF0000"/>
                </a:solidFill>
              </a:rPr>
              <a:t> 내 식별자 요소가 노출되지 않음</a:t>
            </a:r>
          </a:p>
        </p:txBody>
      </p:sp>
    </p:spTree>
    <p:extLst>
      <p:ext uri="{BB962C8B-B14F-4D97-AF65-F5344CB8AC3E}">
        <p14:creationId xmlns:p14="http://schemas.microsoft.com/office/powerpoint/2010/main" val="130799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9250FF2-7978-E71B-CCF6-9890FD612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738"/>
            <a:ext cx="7569589" cy="30672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1-1.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아이덴티티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1-1-3. </a:t>
            </a:r>
            <a:r>
              <a:rPr lang="ko-KR" altLang="en-US" sz="1000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7DE656-34AB-4A32-8CBB-1A2D26F613AE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1-1-3.1</a:t>
            </a:r>
            <a:r>
              <a:rPr lang="ko-KR" altLang="en-US" sz="1000" dirty="0">
                <a:solidFill>
                  <a:schemeClr val="tx1"/>
                </a:solidFill>
              </a:rPr>
              <a:t> 건너뛰기 링크를 최상단에 배치해야 함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B7CB7-45E4-4BFE-8B50-69D945AB8AD3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1-1-3.2</a:t>
            </a:r>
            <a:r>
              <a:rPr lang="ko-KR" altLang="en-US" sz="1000" dirty="0">
                <a:solidFill>
                  <a:schemeClr val="tx1"/>
                </a:solidFill>
              </a:rPr>
              <a:t> 로고 이미지에 대체 텍스트를 제공해야 함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2C654C4-3B23-42FF-BDCA-46E30D6D2576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A141AE-A446-4F5A-A9F9-85877B3EB39F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889D015-D9B2-4BDA-B265-8975F3E2AEEB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최상단에 배치됨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D6DCBEC-0E21-4F8E-A86B-ABBBF7F039A8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헤더 내 서비스 로고 이미지 대체 텍스트 제공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3624C5D-7584-4633-B761-62A87510E366}"/>
              </a:ext>
            </a:extLst>
          </p:cNvPr>
          <p:cNvSpPr/>
          <p:nvPr/>
        </p:nvSpPr>
        <p:spPr>
          <a:xfrm>
            <a:off x="408606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890AA8-3642-41EF-9B05-C366ECC62DAD}"/>
              </a:ext>
            </a:extLst>
          </p:cNvPr>
          <p:cNvSpPr txBox="1"/>
          <p:nvPr/>
        </p:nvSpPr>
        <p:spPr>
          <a:xfrm>
            <a:off x="538620" y="284395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endParaRPr lang="ko-KR" altLang="en-US" sz="10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6E71DD7-C7D8-4B5A-B412-3CE8F5995FDA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CAA84D-50B3-400E-8EF0-5354A9E28528}"/>
              </a:ext>
            </a:extLst>
          </p:cNvPr>
          <p:cNvSpPr txBox="1"/>
          <p:nvPr/>
        </p:nvSpPr>
        <p:spPr>
          <a:xfrm>
            <a:off x="510267" y="5805606"/>
            <a:ext cx="26933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기관의 로고가 정상적으로 </a:t>
            </a:r>
            <a:r>
              <a:rPr lang="ko-KR" altLang="en-US" sz="900" dirty="0" err="1">
                <a:solidFill>
                  <a:srgbClr val="0070C0"/>
                </a:solidFill>
              </a:rPr>
              <a:t>좌상단</a:t>
            </a:r>
            <a:r>
              <a:rPr lang="ko-KR" altLang="en-US" sz="900" dirty="0">
                <a:solidFill>
                  <a:srgbClr val="0070C0"/>
                </a:solidFill>
              </a:rPr>
              <a:t> 위치에 노출됨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AD0A499-2D0A-4343-98AA-49A0AC509F65}"/>
              </a:ext>
            </a:extLst>
          </p:cNvPr>
          <p:cNvSpPr/>
          <p:nvPr/>
        </p:nvSpPr>
        <p:spPr>
          <a:xfrm>
            <a:off x="598950" y="3445964"/>
            <a:ext cx="960491" cy="329038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1DFF1A7-A2DE-4735-BBE0-F776CD23B03D}"/>
              </a:ext>
            </a:extLst>
          </p:cNvPr>
          <p:cNvSpPr/>
          <p:nvPr/>
        </p:nvSpPr>
        <p:spPr>
          <a:xfrm>
            <a:off x="538620" y="3783293"/>
            <a:ext cx="1588630" cy="51235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73848783-4D9A-4E2E-8495-D3C079C47FD3}"/>
              </a:ext>
            </a:extLst>
          </p:cNvPr>
          <p:cNvCxnSpPr>
            <a:cxnSpLocks/>
          </p:cNvCxnSpPr>
          <p:nvPr/>
        </p:nvCxnSpPr>
        <p:spPr>
          <a:xfrm>
            <a:off x="2156983" y="4174640"/>
            <a:ext cx="5991508" cy="316678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4F7C132A-A30B-3EA9-D961-4E6057499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468" y="4332979"/>
            <a:ext cx="3550260" cy="72797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386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FC0E00C-6E57-348C-310C-7F049F47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33" y="3456001"/>
            <a:ext cx="5292967" cy="6254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1-1.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아이덴티티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1-1-4. </a:t>
            </a:r>
            <a:r>
              <a:rPr lang="ko-KR" altLang="en-US" sz="1000" dirty="0" err="1">
                <a:solidFill>
                  <a:schemeClr val="tx1"/>
                </a:solidFill>
              </a:rPr>
              <a:t>푸터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8620" y="284395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endParaRPr lang="ko-KR" alt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6288150" y="284395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고용노동부</a:t>
            </a:r>
            <a:endParaRPr lang="ko-KR" altLang="en-US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6359032" y="3575572"/>
            <a:ext cx="1108569" cy="385542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9BC3322-BA0B-8E34-BDBF-D59635EE0914}"/>
              </a:ext>
            </a:extLst>
          </p:cNvPr>
          <p:cNvSpPr/>
          <p:nvPr/>
        </p:nvSpPr>
        <p:spPr>
          <a:xfrm>
            <a:off x="408606" y="2714918"/>
            <a:ext cx="5648162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BC3322-BA0B-8E34-BDBF-D59635EE0914}"/>
              </a:ext>
            </a:extLst>
          </p:cNvPr>
          <p:cNvSpPr/>
          <p:nvPr/>
        </p:nvSpPr>
        <p:spPr>
          <a:xfrm>
            <a:off x="6134992" y="2714918"/>
            <a:ext cx="56484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4E530B-FE0F-4A45-A2B9-58FDFF446358}"/>
              </a:ext>
            </a:extLst>
          </p:cNvPr>
          <p:cNvSpPr/>
          <p:nvPr/>
        </p:nvSpPr>
        <p:spPr>
          <a:xfrm rot="10800000" flipV="1">
            <a:off x="5168728" y="2781794"/>
            <a:ext cx="824618" cy="2181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D949A7C-9791-44B7-A411-B464DCE38462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5975" y="4564562"/>
            <a:ext cx="23871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rgbClr val="0070C0"/>
                </a:solidFill>
              </a:rPr>
              <a:t>푸터</a:t>
            </a:r>
            <a:r>
              <a:rPr lang="ko-KR" altLang="en-US" sz="900" dirty="0">
                <a:solidFill>
                  <a:srgbClr val="0070C0"/>
                </a:solidFill>
              </a:rPr>
              <a:t> 내 서비스 로고에 대체 텍스트 제공함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9A77E48-FD0E-4E01-B903-3708E6C47FF5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1-1-4.1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푸터</a:t>
            </a:r>
            <a:r>
              <a:rPr lang="ko-KR" altLang="en-US" sz="1000" dirty="0">
                <a:solidFill>
                  <a:schemeClr val="tx1"/>
                </a:solidFill>
              </a:rPr>
              <a:t> 영역이 스크린 리더에 인지될 수 있는 방식으로 제공해야 함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8F7607-D3AC-4208-80FB-46417E6C2E55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1-1-4.2</a:t>
            </a:r>
            <a:r>
              <a:rPr lang="ko-KR" altLang="en-US" sz="1000" dirty="0">
                <a:solidFill>
                  <a:schemeClr val="tx1"/>
                </a:solidFill>
              </a:rPr>
              <a:t> 로고 이미지에 대체 텍스트를 제공해야 함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E447BC-B202-457D-95C7-DD09CA0531CB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AA863CD-E331-49C7-B1CF-735D9232D74E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DE56295-F214-4BD4-9ECC-0D0C84F2554A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rgbClr val="1E2124"/>
                </a:solidFill>
                <a:latin typeface="Pretendard GOV"/>
              </a:rPr>
              <a:t>푸터의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 모든 요소는 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&lt;footer&gt;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내부에 배치하여 주요 랜드마크 정보가 스크린 리더로 전달될 수 있도록 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1A93FF4-E77B-4D69-B9D8-0AEB77D21606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푸터</a:t>
            </a:r>
            <a:r>
              <a:rPr lang="ko-KR" altLang="en-US" sz="1000" dirty="0">
                <a:solidFill>
                  <a:schemeClr val="tx1"/>
                </a:solidFill>
              </a:rPr>
              <a:t> 내 서비스 로고 이미지가 노출되지 않음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5BDBB44-9587-4F4A-9BB9-BF707036CD0E}"/>
              </a:ext>
            </a:extLst>
          </p:cNvPr>
          <p:cNvCxnSpPr>
            <a:cxnSpLocks/>
          </p:cNvCxnSpPr>
          <p:nvPr/>
        </p:nvCxnSpPr>
        <p:spPr>
          <a:xfrm>
            <a:off x="7397750" y="3961114"/>
            <a:ext cx="0" cy="1264936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8189E12-EAA8-E522-49D0-3459ABB06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00" y="3456000"/>
            <a:ext cx="5369890" cy="8700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D0EB38-9E84-3AEF-69B8-A3FF15AEDC83}"/>
              </a:ext>
            </a:extLst>
          </p:cNvPr>
          <p:cNvSpPr txBox="1"/>
          <p:nvPr/>
        </p:nvSpPr>
        <p:spPr>
          <a:xfrm>
            <a:off x="547565" y="4461047"/>
            <a:ext cx="25026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rgbClr val="FF0000"/>
                </a:solidFill>
              </a:rPr>
              <a:t>푸터</a:t>
            </a:r>
            <a:r>
              <a:rPr lang="ko-KR" altLang="en-US" sz="900" dirty="0">
                <a:solidFill>
                  <a:srgbClr val="FF0000"/>
                </a:solidFill>
              </a:rPr>
              <a:t> 내 서비스 로고 이미지가 노출되지 않음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D9BF682-2024-DD81-23CB-A21CC2B9D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17" y="5232400"/>
            <a:ext cx="3888060" cy="84032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165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5EE9-7627-04A6-0BBB-CF54DBF6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847B43BA-F916-A18A-A72C-C45E68629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002" y="3456000"/>
            <a:ext cx="5289650" cy="173401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74691AA-3634-40DB-05D4-1638F4645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3456000"/>
            <a:ext cx="5045376" cy="166445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DD2C2C0-8FC0-3F17-E78B-B1BDF9B4F78C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B3D952-C78F-2A9F-B8A1-3CF463B1BC2B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F983E5-8B4C-DBCF-1357-A99B25CDFB38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67D6FA6-E7D5-5703-B28F-37142AEF77C3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A89038-73D2-8FD4-6F79-7B715FCBCE63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AB9C61-0D08-85A5-E59D-2E4775553C7D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386C33-C9CE-1CA2-37FC-7953F61AB25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1E4181-5E0D-E6FD-390A-21111BB815DB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88F4EB0-33EA-F1B2-EAC1-3A9C17F2CF32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D59D979-E1B9-D525-A852-EDB6E9E8D0CC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1-2-1.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건너뛰기 링크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5248EF1-6234-3024-D205-035C2E7179FF}"/>
              </a:ext>
            </a:extLst>
          </p:cNvPr>
          <p:cNvSpPr/>
          <p:nvPr/>
        </p:nvSpPr>
        <p:spPr>
          <a:xfrm>
            <a:off x="408606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340DAD-F9F6-43D8-18EC-905631907304}"/>
              </a:ext>
            </a:extLst>
          </p:cNvPr>
          <p:cNvSpPr txBox="1"/>
          <p:nvPr/>
        </p:nvSpPr>
        <p:spPr>
          <a:xfrm>
            <a:off x="538620" y="2843958"/>
            <a:ext cx="2143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Banks</a:t>
            </a:r>
            <a:endParaRPr lang="ko-KR" altLang="en-US" sz="10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447BF75-F55D-3A2F-5562-F493CEEE27FF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F08140E-B94C-A896-A2C0-293305016162}"/>
              </a:ext>
            </a:extLst>
          </p:cNvPr>
          <p:cNvSpPr/>
          <p:nvPr/>
        </p:nvSpPr>
        <p:spPr>
          <a:xfrm>
            <a:off x="523926" y="3397916"/>
            <a:ext cx="1120849" cy="282704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800B8E-C253-6613-8756-28BFD69A9C72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쿠키 배너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,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화면의 맥락을 가린 </a:t>
            </a:r>
            <a:r>
              <a:rPr lang="ko-KR" altLang="en-US" sz="1000" dirty="0" err="1">
                <a:solidFill>
                  <a:srgbClr val="1E2124"/>
                </a:solidFill>
                <a:latin typeface="Pretendard GOV"/>
              </a:rPr>
              <a:t>모달이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 제공되는 경우를 제외하고 건너뛰기 링크 목록은 웹 문서의 가장 첫 요소로 제공함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2CEC0A-CB07-B470-4A9D-85149A45396D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1-2-1.1 </a:t>
            </a:r>
            <a:r>
              <a:rPr lang="ko-KR" altLang="en-US" sz="1000" dirty="0">
                <a:solidFill>
                  <a:schemeClr val="tx1"/>
                </a:solidFill>
              </a:rPr>
              <a:t>건너뛰기 링크 목록은 문서의 가장 첫 요소로 제공해야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74CD55-BC44-4E61-FFAA-06D4D900501A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768A98-7084-B27D-AB4B-0D320A356B40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1-2-1.2 </a:t>
            </a:r>
            <a:r>
              <a:rPr lang="ko-KR" altLang="en-US" sz="1000" dirty="0">
                <a:solidFill>
                  <a:schemeClr val="tx1"/>
                </a:solidFill>
              </a:rPr>
              <a:t>건너뛰기 링크의 초점이 명확하게 구분되도록 표현해야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E54E91-4DBF-8241-D740-F8BDDDB96DE5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1-2-1.3 </a:t>
            </a:r>
            <a:r>
              <a:rPr lang="ko-KR" altLang="en-US" sz="1000" dirty="0">
                <a:solidFill>
                  <a:schemeClr val="tx1"/>
                </a:solidFill>
              </a:rPr>
              <a:t>건너뛰기 링크 실행 시 스크롤 동작과 함께 연결된 목적지 </a:t>
            </a:r>
            <a:r>
              <a:rPr lang="ko-KR" altLang="en-US" sz="1000" dirty="0" err="1">
                <a:solidFill>
                  <a:schemeClr val="tx1"/>
                </a:solidFill>
              </a:rPr>
              <a:t>섹션으로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Focus </a:t>
            </a:r>
            <a:r>
              <a:rPr lang="ko-KR" altLang="en-US" sz="1000" dirty="0">
                <a:solidFill>
                  <a:schemeClr val="tx1"/>
                </a:solidFill>
              </a:rPr>
              <a:t>이벤트가 발생해야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778AC5-B6A5-7A20-0992-09A5DE10A627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일시적으로 숨긴 건너뛰기 링크 형식에서 포커스링이 인접한 본문 영역과 중첩될 수 있음을 유의해야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775B59-CD74-C89B-FDB6-BBB7783ECA33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A0D33F-98A6-44ED-2B95-07AB33D405BF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링크 실행 후 목표 지점으로 스크롤 동작만 발생하고 키보드 초점이 링크나 기타 요소에 머물러 있으면 안됨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73B789-03BB-1570-2AC6-5506DBAB14B5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76E6AE-0D8F-3225-FC9E-AE309251759D}"/>
              </a:ext>
            </a:extLst>
          </p:cNvPr>
          <p:cNvSpPr/>
          <p:nvPr/>
        </p:nvSpPr>
        <p:spPr>
          <a:xfrm>
            <a:off x="10997134" y="4227820"/>
            <a:ext cx="263033" cy="329038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939719-A419-0325-5EE8-927250D5C09E}"/>
              </a:ext>
            </a:extLst>
          </p:cNvPr>
          <p:cNvSpPr txBox="1"/>
          <p:nvPr/>
        </p:nvSpPr>
        <p:spPr>
          <a:xfrm>
            <a:off x="3886247" y="5797887"/>
            <a:ext cx="4037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0070C0"/>
                </a:solidFill>
              </a:rPr>
              <a:t>“</a:t>
            </a:r>
            <a:r>
              <a:rPr lang="ko-KR" altLang="en-US" sz="900" dirty="0">
                <a:solidFill>
                  <a:srgbClr val="0070C0"/>
                </a:solidFill>
              </a:rPr>
              <a:t>본문내용 바로가기</a:t>
            </a:r>
            <a:r>
              <a:rPr lang="en-US" altLang="ko-KR" sz="900" dirty="0">
                <a:solidFill>
                  <a:srgbClr val="0070C0"/>
                </a:solidFill>
              </a:rPr>
              <a:t>” </a:t>
            </a:r>
            <a:r>
              <a:rPr lang="ko-KR" altLang="en-US" sz="900" dirty="0">
                <a:solidFill>
                  <a:srgbClr val="0070C0"/>
                </a:solidFill>
              </a:rPr>
              <a:t>클릭 후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서브 페이지의 </a:t>
            </a:r>
            <a:r>
              <a:rPr lang="en-US" altLang="ko-KR" sz="900" dirty="0">
                <a:solidFill>
                  <a:srgbClr val="0070C0"/>
                </a:solidFill>
              </a:rPr>
              <a:t>“</a:t>
            </a:r>
            <a:r>
              <a:rPr lang="ko-KR" altLang="en-US" sz="900" dirty="0">
                <a:solidFill>
                  <a:srgbClr val="0070C0"/>
                </a:solidFill>
              </a:rPr>
              <a:t>공유하기</a:t>
            </a:r>
            <a:r>
              <a:rPr lang="en-US" altLang="ko-KR" sz="900" dirty="0">
                <a:solidFill>
                  <a:srgbClr val="0070C0"/>
                </a:solidFill>
              </a:rPr>
              <a:t>”</a:t>
            </a:r>
            <a:r>
              <a:rPr lang="ko-KR" altLang="en-US" sz="900" dirty="0">
                <a:solidFill>
                  <a:srgbClr val="0070C0"/>
                </a:solidFill>
              </a:rPr>
              <a:t>로 초점이 이동됨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AE9583F-F373-FDDE-6954-B4B386B03E68}"/>
              </a:ext>
            </a:extLst>
          </p:cNvPr>
          <p:cNvCxnSpPr>
            <a:cxnSpLocks/>
          </p:cNvCxnSpPr>
          <p:nvPr/>
        </p:nvCxnSpPr>
        <p:spPr>
          <a:xfrm flipV="1">
            <a:off x="1644775" y="3454370"/>
            <a:ext cx="3998199" cy="42078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4C225BD-CACE-E33C-9279-033DAE7864F8}"/>
              </a:ext>
            </a:extLst>
          </p:cNvPr>
          <p:cNvCxnSpPr>
            <a:cxnSpLocks/>
          </p:cNvCxnSpPr>
          <p:nvPr/>
        </p:nvCxnSpPr>
        <p:spPr>
          <a:xfrm>
            <a:off x="5642974" y="3461227"/>
            <a:ext cx="5246312" cy="931337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75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A990-4AE6-3DF7-7299-847BF621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4F4BF52-B06C-8A31-ACEC-7760C9DB6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22" y="3456000"/>
            <a:ext cx="4278249" cy="300543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A0145D9-6F3C-B401-F03E-38E13A2C1E72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2ACC4E-D379-E47A-9172-56A62D9D65BF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FB09B8-2503-B81B-6136-F98012C2E187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0527A94-B19D-0DE4-4858-85ECEBC6560A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B6D31B-5DB0-CAC0-7D63-FAC2A3067AE7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8AA39D-4071-836A-50AC-4E0668BC9C4B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8FB1DA-36F8-30A4-4B30-2B3C7C4848DB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2D50B1-6329-9A88-FB99-9110BF333B63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10FB792-A139-5C78-CDCF-F0213048B3C5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621F5A-ED56-4239-944D-BED4813F7B57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1-2-2.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메인 메뉴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A0AD7F-739C-F946-0942-871D377203F9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메뉴의 전체 컨테이너는 </a:t>
            </a:r>
            <a:r>
              <a:rPr lang="en-US" altLang="ko-KR" sz="1000" dirty="0">
                <a:solidFill>
                  <a:schemeClr val="tx1"/>
                </a:solidFill>
              </a:rPr>
              <a:t>&lt;nav&gt;</a:t>
            </a:r>
            <a:r>
              <a:rPr lang="ko-KR" altLang="en-US" sz="1000" dirty="0">
                <a:solidFill>
                  <a:schemeClr val="tx1"/>
                </a:solidFill>
              </a:rPr>
              <a:t>로 감싸거나 </a:t>
            </a:r>
            <a:r>
              <a:rPr lang="en-US" altLang="ko-KR" sz="1000" dirty="0">
                <a:solidFill>
                  <a:schemeClr val="tx1"/>
                </a:solidFill>
              </a:rPr>
              <a:t>WAI-ARIA </a:t>
            </a:r>
            <a:r>
              <a:rPr lang="ko-KR" altLang="en-US" sz="1000" dirty="0">
                <a:solidFill>
                  <a:schemeClr val="tx1"/>
                </a:solidFill>
              </a:rPr>
              <a:t>영역을 </a:t>
            </a:r>
            <a:r>
              <a:rPr lang="en-US" altLang="ko-KR" sz="1000" dirty="0">
                <a:solidFill>
                  <a:schemeClr val="tx1"/>
                </a:solidFill>
              </a:rPr>
              <a:t>role="navigation"</a:t>
            </a:r>
            <a:r>
              <a:rPr lang="ko-KR" altLang="en-US" sz="1000" dirty="0">
                <a:solidFill>
                  <a:schemeClr val="tx1"/>
                </a:solidFill>
              </a:rPr>
              <a:t>으로 지정하여 스크린 리더에서 내비게이션 요소임을 인지할 수 있도록 제공해야 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DA524E-ADD2-E6AA-503F-B3531B0C36B5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1-2-2.1 </a:t>
            </a:r>
            <a:r>
              <a:rPr lang="ko-KR" altLang="en-US" sz="1000" dirty="0">
                <a:solidFill>
                  <a:schemeClr val="tx1"/>
                </a:solidFill>
              </a:rPr>
              <a:t>메뉴의 컨테이너가 내비게이션 섹션임을 스크린 리더에서 인지할 수 있도록 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55F476-A75D-DEA3-B7A0-1949159E3635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6872CE-691A-BF11-AC9F-3DB16CE562AA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1-2-2.2 </a:t>
            </a:r>
            <a:r>
              <a:rPr lang="ko-KR" altLang="en-US" sz="1000" dirty="0">
                <a:solidFill>
                  <a:schemeClr val="tx1"/>
                </a:solidFill>
              </a:rPr>
              <a:t>메뉴 링크의 계층 구조를 표현해야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8CF83C-15EF-57FF-09C9-44DDA106979C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1-2-2.3 </a:t>
            </a:r>
            <a:r>
              <a:rPr lang="ko-KR" altLang="en-US" sz="1000" dirty="0">
                <a:solidFill>
                  <a:schemeClr val="tx1"/>
                </a:solidFill>
              </a:rPr>
              <a:t>활성화된 메뉴 정보가 스크린 리더로 전달될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CD9CD-AFF6-996C-C6C9-9A6AD9B675E6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사이트의 정보 구조를 파악하는 데 도움을 줄 수 있도록 </a:t>
            </a:r>
            <a:r>
              <a:rPr lang="en-US" altLang="ko-KR" sz="1000" dirty="0">
                <a:solidFill>
                  <a:schemeClr val="tx1"/>
                </a:solidFill>
              </a:rPr>
              <a:t>&lt;h2&gt;~&lt;h6&gt;, &lt;ul&gt;, &lt;li&gt; </a:t>
            </a:r>
            <a:r>
              <a:rPr lang="ko-KR" altLang="en-US" sz="1000" dirty="0">
                <a:solidFill>
                  <a:schemeClr val="tx1"/>
                </a:solidFill>
              </a:rPr>
              <a:t>태그를 활용하여 계층 구조로 정보를 제공해야 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A1E0EF-9972-C8B5-4CD2-63B92E925D35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31EA24-A78D-DCBB-8CD0-09609A1E1CC9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인디케이터가 시각적으로만 구분되는 것이 아니라 </a:t>
            </a:r>
            <a:r>
              <a:rPr lang="en-US" altLang="ko-KR" sz="1000" dirty="0">
                <a:solidFill>
                  <a:schemeClr val="tx1"/>
                </a:solidFill>
              </a:rPr>
              <a:t>WAI-ARIA aria current </a:t>
            </a:r>
            <a:r>
              <a:rPr lang="ko-KR" altLang="en-US" sz="1000" dirty="0">
                <a:solidFill>
                  <a:schemeClr val="tx1"/>
                </a:solidFill>
              </a:rPr>
              <a:t>속성을 제공해야 함</a:t>
            </a:r>
            <a:r>
              <a:rPr lang="en-US" altLang="ko-KR" sz="1000" dirty="0">
                <a:solidFill>
                  <a:schemeClr val="tx1"/>
                </a:solidFill>
              </a:rPr>
              <a:t>(aria-current="true", aria-current="page“ </a:t>
            </a:r>
            <a:r>
              <a:rPr lang="ko-KR" altLang="en-US" sz="1000" dirty="0">
                <a:solidFill>
                  <a:schemeClr val="tx1"/>
                </a:solidFill>
              </a:rPr>
              <a:t>등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749B17-EE05-5BC6-A568-F57BB33B432C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88B47B3-0E59-1BDD-9FE6-BE9A304296DF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24AECE8-6A70-7554-6FCA-FFB47F8C19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606FC6-8580-3CFC-06CB-FB39283C4136}"/>
              </a:ext>
            </a:extLst>
          </p:cNvPr>
          <p:cNvSpPr txBox="1"/>
          <p:nvPr/>
        </p:nvSpPr>
        <p:spPr>
          <a:xfrm>
            <a:off x="4832838" y="5649547"/>
            <a:ext cx="15261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활성화된 메뉴 정보 부재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8410B1A-66B3-DC5D-6E31-34C801D6989F}"/>
              </a:ext>
            </a:extLst>
          </p:cNvPr>
          <p:cNvSpPr/>
          <p:nvPr/>
        </p:nvSpPr>
        <p:spPr>
          <a:xfrm>
            <a:off x="6732467" y="5452495"/>
            <a:ext cx="4399898" cy="427884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7894310-E6DA-6AF7-865F-89F79E8BB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0" y="3468700"/>
            <a:ext cx="5275329" cy="20016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B478364-AB22-2726-5FDD-9CAF1BC30B23}"/>
              </a:ext>
            </a:extLst>
          </p:cNvPr>
          <p:cNvSpPr/>
          <p:nvPr/>
        </p:nvSpPr>
        <p:spPr>
          <a:xfrm>
            <a:off x="2517926" y="4246806"/>
            <a:ext cx="466574" cy="173753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352BA95-6635-96F2-8641-1C9CD0C3D20B}"/>
              </a:ext>
            </a:extLst>
          </p:cNvPr>
          <p:cNvCxnSpPr>
            <a:cxnSpLocks/>
            <a:stCxn id="25" idx="3"/>
            <a:endCxn id="75" idx="1"/>
          </p:cNvCxnSpPr>
          <p:nvPr/>
        </p:nvCxnSpPr>
        <p:spPr>
          <a:xfrm>
            <a:off x="2984500" y="4333683"/>
            <a:ext cx="3747967" cy="1332754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9D0A5AF-E630-8C58-829A-8540FED7E316}"/>
              </a:ext>
            </a:extLst>
          </p:cNvPr>
          <p:cNvSpPr txBox="1"/>
          <p:nvPr/>
        </p:nvSpPr>
        <p:spPr>
          <a:xfrm>
            <a:off x="538620" y="2843958"/>
            <a:ext cx="23407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Overview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1784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CCAB-E596-29B8-4197-1E941717D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A4C5AD-588A-3F34-11CF-89577F3D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0" y="3456000"/>
            <a:ext cx="5312048" cy="20314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D74CCC5-9C64-59C3-B941-B550A0CF5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56000"/>
            <a:ext cx="5338719" cy="205369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49AC580-2C3A-D629-D739-9B5BD0ED24D4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31E40A-9461-E897-C5FA-3BA3AEBC770F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D8DA48-A0CE-D83C-862A-D3A22E8D32D8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7F49E26-7AEA-251D-E49D-0CEC0EFE33B3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8EF2D5-E9F8-8749-E895-8DE877FE3967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7299C7-DC93-FC67-BA2E-6A65BE72BA0A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1E4F10-6057-38E1-07A3-5AC95D99DB3F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AEA63F-A3F7-E458-BEB3-45E83290B6B8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3557D62-925C-F689-B47C-119C167CDC84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506AEEB-AC04-3118-2C41-2F30057BFB0E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1-2-2.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메인 메뉴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6337301-A5F4-5694-AE1F-47E0FB2C46DE}"/>
              </a:ext>
            </a:extLst>
          </p:cNvPr>
          <p:cNvSpPr/>
          <p:nvPr/>
        </p:nvSpPr>
        <p:spPr>
          <a:xfrm>
            <a:off x="408606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2B796-B904-68A2-ED70-2382614ACC2C}"/>
              </a:ext>
            </a:extLst>
          </p:cNvPr>
          <p:cNvSpPr txBox="1"/>
          <p:nvPr/>
        </p:nvSpPr>
        <p:spPr>
          <a:xfrm>
            <a:off x="538620" y="284395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endParaRPr lang="ko-KR" altLang="en-US" sz="10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DACA35E-0514-6A73-77A9-12CE864A9C1F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A4626EA-337F-C2EE-8B8D-8763F802152B}"/>
              </a:ext>
            </a:extLst>
          </p:cNvPr>
          <p:cNvSpPr/>
          <p:nvPr/>
        </p:nvSpPr>
        <p:spPr>
          <a:xfrm>
            <a:off x="1568449" y="3345966"/>
            <a:ext cx="599467" cy="60168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D7DB80-0C52-DA9F-7246-644309A02BDD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1-2-2..4 </a:t>
            </a:r>
            <a:r>
              <a:rPr lang="ko-KR" altLang="en-US" sz="1000" dirty="0">
                <a:solidFill>
                  <a:schemeClr val="tx1"/>
                </a:solidFill>
              </a:rPr>
              <a:t>메뉴 링크는 키보드로 탐색할 수 있도록 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D2F0FE-4E15-C0A3-B126-52C0EF0D5D50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1-2-2..5 </a:t>
            </a:r>
            <a:r>
              <a:rPr lang="ko-KR" altLang="en-US" sz="1000" dirty="0">
                <a:solidFill>
                  <a:schemeClr val="tx1"/>
                </a:solidFill>
              </a:rPr>
              <a:t>키보드의 초점은 메뉴의 계층 순서대로 이동하도록 해야 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7EACAB-52CD-F22B-44F1-902A75454803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E218E5-6BF8-8C65-560B-2A1E0CEFA100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CB0F85B-CBAC-38E5-2E6F-23E21D67A0B2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메뉴 링크는 반드시 키보드가 접근할 수 있도록 제공해야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E14F00-66BE-F40A-5612-D0D52FC72019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키보드를 이용하여 메뉴를 탐색하는 경우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키보드의 탐색 위치를 표시하는 초점이 메뉴의 계층 순서에 맞게 이동되도록 제공해야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715798C-D1F5-67B2-C3E3-A41553F1965C}"/>
              </a:ext>
            </a:extLst>
          </p:cNvPr>
          <p:cNvSpPr/>
          <p:nvPr/>
        </p:nvSpPr>
        <p:spPr>
          <a:xfrm>
            <a:off x="6158303" y="3813176"/>
            <a:ext cx="888314" cy="492124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6CAA567-3213-A999-349E-9BCF5CED2D9B}"/>
              </a:ext>
            </a:extLst>
          </p:cNvPr>
          <p:cNvCxnSpPr>
            <a:cxnSpLocks/>
          </p:cNvCxnSpPr>
          <p:nvPr/>
        </p:nvCxnSpPr>
        <p:spPr>
          <a:xfrm>
            <a:off x="2167916" y="3529103"/>
            <a:ext cx="3928082" cy="617447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E89BB1-5A84-30BD-067B-16CBE6BD0B70}"/>
              </a:ext>
            </a:extLst>
          </p:cNvPr>
          <p:cNvSpPr txBox="1"/>
          <p:nvPr/>
        </p:nvSpPr>
        <p:spPr>
          <a:xfrm>
            <a:off x="3886247" y="5797887"/>
            <a:ext cx="4037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70C0"/>
                </a:solidFill>
              </a:rPr>
              <a:t>키보드로 메뉴 계층 순에 맞게 초점이 이동됨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279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ED30-E2BB-FCD1-5F65-6C505BE2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D2071E2-3E40-A53B-D51C-2E849E795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445" y="3456000"/>
            <a:ext cx="3820058" cy="247684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246FAA8-1A8E-2001-4A52-F377F7F72CF0}"/>
              </a:ext>
            </a:extLst>
          </p:cNvPr>
          <p:cNvSpPr txBox="1"/>
          <p:nvPr/>
        </p:nvSpPr>
        <p:spPr>
          <a:xfrm>
            <a:off x="538620" y="2843958"/>
            <a:ext cx="2143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Banks</a:t>
            </a:r>
            <a:endParaRPr lang="ko-KR" altLang="en-US" sz="10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12C25E-9DCB-80CE-2B96-353C1656DB31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42B7720-B53D-8E54-3DCA-2EE409D8AD3D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0A7E50-2FFB-0C0A-B8CF-0897F7D3AB45}"/>
              </a:ext>
            </a:extLst>
          </p:cNvPr>
          <p:cNvSpPr txBox="1"/>
          <p:nvPr/>
        </p:nvSpPr>
        <p:spPr>
          <a:xfrm>
            <a:off x="10083672" y="3600533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FF0000"/>
                </a:solidFill>
              </a:rPr>
              <a:t>1. &lt;nav&gt; </a:t>
            </a:r>
            <a:r>
              <a:rPr lang="ko-KR" altLang="en-US" sz="900" dirty="0">
                <a:solidFill>
                  <a:srgbClr val="FF0000"/>
                </a:solidFill>
              </a:rPr>
              <a:t>구획 태그 누락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en-US" altLang="ko-KR" sz="900" dirty="0">
                <a:solidFill>
                  <a:srgbClr val="FF0000"/>
                </a:solidFill>
              </a:rPr>
              <a:t>2. </a:t>
            </a:r>
            <a:r>
              <a:rPr lang="ko-KR" altLang="en-US" sz="900" dirty="0">
                <a:solidFill>
                  <a:srgbClr val="FF0000"/>
                </a:solidFill>
              </a:rPr>
              <a:t>계층 구조로 안되어 있음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F40357-2FAF-89F6-92E9-6A24B4C7963B}"/>
              </a:ext>
            </a:extLst>
          </p:cNvPr>
          <p:cNvSpPr/>
          <p:nvPr/>
        </p:nvSpPr>
        <p:spPr>
          <a:xfrm>
            <a:off x="6096001" y="3590849"/>
            <a:ext cx="2483924" cy="23776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0EEB3B-B5C4-8391-0CD2-8ED8C51AF31F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442268-B1D8-D6CC-DB65-5CD534A797DF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6CB09D-09CE-B87A-1325-DC39D1F85539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60D83D2-796F-534A-7736-4365387B3219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169BBF-7276-97F5-FB66-D7284F81FD5A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ADFC9B-163B-2FD3-A6EB-7CE6DB7910B6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8045EE-57D6-FDAF-8601-643B8CA0ECD6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843D63-0FE4-F98C-BD2A-14ADCB5C9AC1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032CAA-32A7-D0BF-477B-62788C43350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2DB963-58B3-E248-0CC6-17AFBAA7872B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1-2-3. 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브레드크럼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9E189E0-0235-2A2B-C757-71EAF6DD361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F06081-76E9-BCCB-2400-66B329308D79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1-2-3.1 </a:t>
            </a:r>
            <a:r>
              <a:rPr lang="ko-KR" altLang="en-US" sz="1000" dirty="0">
                <a:solidFill>
                  <a:schemeClr val="tx1"/>
                </a:solidFill>
              </a:rPr>
              <a:t>경로 목록을 </a:t>
            </a:r>
            <a:r>
              <a:rPr lang="en-US" altLang="ko-KR" sz="1000" dirty="0">
                <a:solidFill>
                  <a:schemeClr val="tx1"/>
                </a:solidFill>
              </a:rPr>
              <a:t>&lt;nav&gt; </a:t>
            </a:r>
            <a:r>
              <a:rPr lang="ko-KR" altLang="en-US" sz="1000" dirty="0">
                <a:solidFill>
                  <a:schemeClr val="tx1"/>
                </a:solidFill>
              </a:rPr>
              <a:t>구획으로 감싸고 적절한 구획 제목을 제공해야 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5CD0A1-02BF-6434-192F-AB01F7293A72}"/>
              </a:ext>
            </a:extLst>
          </p:cNvPr>
          <p:cNvSpPr/>
          <p:nvPr/>
        </p:nvSpPr>
        <p:spPr>
          <a:xfrm>
            <a:off x="2374075" y="2052000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1-2-2.2 </a:t>
            </a:r>
            <a:r>
              <a:rPr lang="ko-KR" altLang="en-US" sz="1000" dirty="0">
                <a:solidFill>
                  <a:schemeClr val="tx1"/>
                </a:solidFill>
              </a:rPr>
              <a:t>순서 있는 목록을 사용해야 함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8C29299-71A5-28E1-80BC-A0B76E85B28C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브레드크럼</a:t>
            </a:r>
            <a:r>
              <a:rPr lang="ko-KR" altLang="en-US" sz="1000" dirty="0">
                <a:solidFill>
                  <a:schemeClr val="tx1"/>
                </a:solidFill>
              </a:rPr>
              <a:t> 목록을 </a:t>
            </a:r>
            <a:r>
              <a:rPr lang="en-US" altLang="ko-KR" sz="1000" dirty="0">
                <a:solidFill>
                  <a:schemeClr val="tx1"/>
                </a:solidFill>
              </a:rPr>
              <a:t>&lt;nav&gt; </a:t>
            </a:r>
            <a:r>
              <a:rPr lang="ko-KR" altLang="en-US" sz="1000" dirty="0">
                <a:solidFill>
                  <a:schemeClr val="tx1"/>
                </a:solidFill>
              </a:rPr>
              <a:t>구획으로 감싸고 구획 태그에 </a:t>
            </a:r>
            <a:r>
              <a:rPr lang="en-US" altLang="ko-KR" sz="1000" dirty="0">
                <a:solidFill>
                  <a:schemeClr val="tx1"/>
                </a:solidFill>
              </a:rPr>
              <a:t>aria-label="</a:t>
            </a:r>
            <a:r>
              <a:rPr lang="ko-KR" altLang="en-US" sz="1000" dirty="0" err="1">
                <a:solidFill>
                  <a:schemeClr val="tx1"/>
                </a:solidFill>
              </a:rPr>
              <a:t>브레드크럼</a:t>
            </a:r>
            <a:r>
              <a:rPr lang="en-US" altLang="ko-KR" sz="1000" dirty="0">
                <a:solidFill>
                  <a:schemeClr val="tx1"/>
                </a:solidFill>
              </a:rPr>
              <a:t>"</a:t>
            </a:r>
            <a:r>
              <a:rPr lang="ko-KR" altLang="en-US" sz="1000" dirty="0">
                <a:solidFill>
                  <a:schemeClr val="tx1"/>
                </a:solidFill>
              </a:rPr>
              <a:t>으로 구획 제목을 제공함으로써 스크린 리더로 구획을 빠르게 탐색하고 정보 역할을 인지할 수 있도록 해야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함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E88E0D8-C256-DD87-705C-A9A11CAA0AB5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3A9DD42-63B7-F346-C07B-E14A3D0787B0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목록과 항목을 </a:t>
            </a:r>
            <a:r>
              <a:rPr lang="en-US" altLang="ko-KR" sz="1000" dirty="0">
                <a:solidFill>
                  <a:schemeClr val="tx1"/>
                </a:solidFill>
              </a:rPr>
              <a:t>&lt;</a:t>
            </a:r>
            <a:r>
              <a:rPr lang="en-US" altLang="ko-KR" sz="1000" dirty="0" err="1">
                <a:solidFill>
                  <a:schemeClr val="tx1"/>
                </a:solidFill>
              </a:rPr>
              <a:t>ol</a:t>
            </a:r>
            <a:r>
              <a:rPr lang="en-US" altLang="ko-KR" sz="1000" dirty="0">
                <a:solidFill>
                  <a:schemeClr val="tx1"/>
                </a:solidFill>
              </a:rPr>
              <a:t>&gt;, &lt;li&gt;</a:t>
            </a:r>
            <a:r>
              <a:rPr lang="ko-KR" altLang="en-US" sz="1000" dirty="0">
                <a:solidFill>
                  <a:schemeClr val="tx1"/>
                </a:solidFill>
              </a:rPr>
              <a:t>로 </a:t>
            </a:r>
            <a:r>
              <a:rPr lang="ko-KR" altLang="en-US" sz="1000" dirty="0" err="1">
                <a:solidFill>
                  <a:schemeClr val="tx1"/>
                </a:solidFill>
              </a:rPr>
              <a:t>마크업하여</a:t>
            </a:r>
            <a:r>
              <a:rPr lang="ko-KR" altLang="en-US" sz="1000" dirty="0">
                <a:solidFill>
                  <a:schemeClr val="tx1"/>
                </a:solidFill>
              </a:rPr>
              <a:t> 스크린 리더에서 계층 구조와 깊이를 빠르게 탐지할 수 있도록 제공해야 함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F755090-56B7-788F-D6A2-DEA1637289A9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3C50D1-E0D9-753C-46C4-6BE783AE2E87}"/>
              </a:ext>
            </a:extLst>
          </p:cNvPr>
          <p:cNvSpPr/>
          <p:nvPr/>
        </p:nvSpPr>
        <p:spPr>
          <a:xfrm>
            <a:off x="6096000" y="3923337"/>
            <a:ext cx="3987671" cy="154772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EA2CEFE-171F-A777-4BFF-7860906B1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3456000"/>
            <a:ext cx="4826571" cy="272196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FE7371-968F-F899-DD63-78425C85EA88}"/>
              </a:ext>
            </a:extLst>
          </p:cNvPr>
          <p:cNvSpPr/>
          <p:nvPr/>
        </p:nvSpPr>
        <p:spPr>
          <a:xfrm>
            <a:off x="469360" y="4165944"/>
            <a:ext cx="5004339" cy="374306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7772A90-04C7-BF5D-3AA8-D67689EEB4FA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5473699" y="3709729"/>
            <a:ext cx="622302" cy="506671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CB5D5CD-8AF7-A7A3-B8CE-D65E4B801C6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473699" y="4469735"/>
            <a:ext cx="622301" cy="227463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12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FA793-C426-9CE7-25AD-87B1EA2B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08076DA-A032-FA62-FB71-E3B806D5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344" y="3456001"/>
            <a:ext cx="3295400" cy="306992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A1C719D-1C08-BBE1-5A38-282B05261756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CA7631-82B7-95A0-1326-76AC21D8BCC9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B23E73-55FB-6E2E-059E-DCE3871B633D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DFD6D96-62A8-604C-31C0-C57DED413E6B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0A6909-0A82-9596-5883-EA55A88E0557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948FE4-28BE-43FC-4C9E-2AAA3BCD873A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683E38-72C7-DE0C-FA17-33B8D6F346BD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F68AC-3C66-60E9-C93B-0FE61CEB45CB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63B245-E4C4-3AA2-3EE4-530438278BBA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15C2C0A-B800-1B2C-351F-D02094CFCBDD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1-2-4.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사이드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메뉴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7F4A80-6E50-4CED-91E8-F39F70B3434C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메뉴의 전체 컨테이너는 </a:t>
            </a:r>
            <a:r>
              <a:rPr lang="en-US" altLang="ko-KR" sz="1000" dirty="0">
                <a:solidFill>
                  <a:schemeClr val="tx1"/>
                </a:solidFill>
              </a:rPr>
              <a:t>&lt;nav&gt;</a:t>
            </a:r>
            <a:r>
              <a:rPr lang="ko-KR" altLang="en-US" sz="1000" dirty="0">
                <a:solidFill>
                  <a:schemeClr val="tx1"/>
                </a:solidFill>
              </a:rPr>
              <a:t>로 감싸거나 </a:t>
            </a:r>
            <a:r>
              <a:rPr lang="en-US" altLang="ko-KR" sz="1000" dirty="0">
                <a:solidFill>
                  <a:schemeClr val="tx1"/>
                </a:solidFill>
              </a:rPr>
              <a:t>WAI-ARIA </a:t>
            </a:r>
            <a:r>
              <a:rPr lang="ko-KR" altLang="en-US" sz="1000" dirty="0">
                <a:solidFill>
                  <a:schemeClr val="tx1"/>
                </a:solidFill>
              </a:rPr>
              <a:t>영역을 </a:t>
            </a:r>
            <a:r>
              <a:rPr lang="en-US" altLang="ko-KR" sz="1000" dirty="0">
                <a:solidFill>
                  <a:schemeClr val="tx1"/>
                </a:solidFill>
              </a:rPr>
              <a:t>role="navigation"</a:t>
            </a:r>
            <a:r>
              <a:rPr lang="ko-KR" altLang="en-US" sz="1000" dirty="0">
                <a:solidFill>
                  <a:schemeClr val="tx1"/>
                </a:solidFill>
              </a:rPr>
              <a:t>으로 지정하여 스크린 리더에서 내비게이션 요소임을 인지할 수 있도록 제공해야 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0A4FE4-DCC9-4FC4-B241-DCD789428B1E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1-2-4.1 </a:t>
            </a:r>
            <a:r>
              <a:rPr lang="ko-KR" altLang="en-US" sz="1000" dirty="0">
                <a:solidFill>
                  <a:schemeClr val="tx1"/>
                </a:solidFill>
              </a:rPr>
              <a:t>메뉴의 컨테이너가 내비게이션 섹션임을 스크린 리더에서 인지할 수 있도록 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C9B420-F01A-FFEE-09D7-B3CF9A329226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C4633C-BB29-0B27-C451-E7DA82E88629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1-2-4.2 </a:t>
            </a:r>
            <a:r>
              <a:rPr lang="ko-KR" altLang="en-US" sz="1000" dirty="0">
                <a:solidFill>
                  <a:schemeClr val="tx1"/>
                </a:solidFill>
              </a:rPr>
              <a:t>메뉴 링크의 계층 구조를 표현해야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2346E7-18F6-4274-138E-B2EEA4FB0373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1-2-4.3 </a:t>
            </a:r>
            <a:r>
              <a:rPr lang="ko-KR" altLang="en-US" sz="1000" dirty="0">
                <a:solidFill>
                  <a:schemeClr val="tx1"/>
                </a:solidFill>
              </a:rPr>
              <a:t>활성화된 메뉴 정보가 스크린 리더로 전달될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C16A93-5B02-FBB8-52C6-15CD27F0359F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스크린 리더 사용자가 사이트의 정보 구조를 파악하는 데 도움을 줄 수 있도록 </a:t>
            </a:r>
            <a:r>
              <a:rPr lang="en-US" altLang="ko-KR" sz="1000" dirty="0">
                <a:solidFill>
                  <a:schemeClr val="tx1"/>
                </a:solidFill>
              </a:rPr>
              <a:t>&lt;h2&gt;~&lt;h6&gt;, &lt;ul&gt;, &lt;li&gt; </a:t>
            </a:r>
            <a:r>
              <a:rPr lang="ko-KR" altLang="en-US" sz="1000" dirty="0">
                <a:solidFill>
                  <a:schemeClr val="tx1"/>
                </a:solidFill>
              </a:rPr>
              <a:t>태그를 활용하여 계층 구조로 정보를 제공해야 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B8191C-4DF4-4994-E487-6AF6B175D3E3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4F84C6-CE5D-0140-277D-FDB3DD4F4D2F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스크린 리더로도 전달될 수 있도록 </a:t>
            </a:r>
            <a:r>
              <a:rPr lang="en-US" altLang="ko-KR" sz="1000" dirty="0">
                <a:solidFill>
                  <a:schemeClr val="tx1"/>
                </a:solidFill>
              </a:rPr>
              <a:t>WAI-ARIA aria-current </a:t>
            </a:r>
            <a:r>
              <a:rPr lang="ko-KR" altLang="en-US" sz="1000" dirty="0">
                <a:solidFill>
                  <a:schemeClr val="tx1"/>
                </a:solidFill>
              </a:rPr>
              <a:t>속성을 제공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0F9783-ED13-FD4D-FA53-0DF6560D6819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875908-DF5C-3A44-F8C3-5F89E60C1A0F}"/>
              </a:ext>
            </a:extLst>
          </p:cNvPr>
          <p:cNvSpPr txBox="1"/>
          <p:nvPr/>
        </p:nvSpPr>
        <p:spPr>
          <a:xfrm>
            <a:off x="538620" y="2843958"/>
            <a:ext cx="2143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Banks</a:t>
            </a:r>
            <a:endParaRPr lang="ko-KR" altLang="en-US" sz="1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CE5EF7-74D0-E372-FA27-902381A338FA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31B698-B907-85DD-4CFD-AE0FCB0BAA42}"/>
              </a:ext>
            </a:extLst>
          </p:cNvPr>
          <p:cNvSpPr txBox="1"/>
          <p:nvPr/>
        </p:nvSpPr>
        <p:spPr>
          <a:xfrm>
            <a:off x="10260898" y="5767816"/>
            <a:ext cx="14590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활성화된 메뉴 정보 부재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8C1EFD-58C5-8F6D-87B7-529CA6755A75}"/>
              </a:ext>
            </a:extLst>
          </p:cNvPr>
          <p:cNvSpPr/>
          <p:nvPr/>
        </p:nvSpPr>
        <p:spPr>
          <a:xfrm>
            <a:off x="6257433" y="5501369"/>
            <a:ext cx="3707262" cy="76372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6570D6-0E5A-F582-B795-326A697C2C40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F92F8ED-3596-A859-2D07-0F6A278DE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1" y="3456001"/>
            <a:ext cx="3627706" cy="313113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357E87-E066-54AF-E52F-8DFF3222AF4E}"/>
              </a:ext>
            </a:extLst>
          </p:cNvPr>
          <p:cNvSpPr/>
          <p:nvPr/>
        </p:nvSpPr>
        <p:spPr>
          <a:xfrm>
            <a:off x="487523" y="4853001"/>
            <a:ext cx="2338227" cy="24622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9995295-3B37-8179-B8E7-3C46F48652A2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2825750" y="4976686"/>
            <a:ext cx="3431683" cy="906547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FBEB-010E-92D9-E29B-D8D533D5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B6D0A92D-1EC0-602E-DB91-A845D35E1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1" y="3456001"/>
            <a:ext cx="3627706" cy="313113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2920BEC-F2B7-35A9-B48E-3651C16DB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907" y="3456001"/>
            <a:ext cx="3613912" cy="313113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8317829-2E84-8CD5-22E2-190BCF732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4019" y="3456000"/>
            <a:ext cx="3641499" cy="31035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96D38D9-462F-ECAD-581F-2F3623D1FBAD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B2E5A8-1F29-A11F-54F2-72533A92164E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7821A4-6FC4-E61D-73C0-45A8BBA7F9B5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87A8B1A-36E7-09ED-A659-F7DBE8BE26E8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5C71EA-7305-8B73-1B0D-E592A4D7E736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C303AF-42D5-C205-49B6-3B4C3791CEF2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A9D5AA-F10D-41B3-C604-92935E6804F2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23EA87-C3B8-B90C-5290-78978A9BA092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0829BFA-3BEA-B278-1D54-74515C4AAE84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E411A96-01E1-41EA-211F-3088B0211110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1-2-4.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사이드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메뉴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80EC93D-E7E0-614E-9076-A45E403D5F8B}"/>
              </a:ext>
            </a:extLst>
          </p:cNvPr>
          <p:cNvSpPr/>
          <p:nvPr/>
        </p:nvSpPr>
        <p:spPr>
          <a:xfrm>
            <a:off x="408606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C9018A8-65C2-303A-C631-B465E1665DA3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C4691C-24FC-0BF8-CB10-72FE55A0402E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사이드 메뉴의 링크는 반드시 키보드가 접근할 수 있도록 제공해야 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5F6285-6012-21D2-6458-8D2518C2F7B1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1-2-4.4 </a:t>
            </a:r>
            <a:r>
              <a:rPr lang="ko-KR" altLang="en-US" sz="1000" dirty="0">
                <a:solidFill>
                  <a:schemeClr val="tx1"/>
                </a:solidFill>
              </a:rPr>
              <a:t>메뉴 링크는 키보드로 탐색할 수 있도록 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869B1E-C1A2-BECE-639B-25D9604052B0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96FD3F-52C5-B030-29A9-4BA94A3E0A87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1-2-4.5 </a:t>
            </a:r>
            <a:r>
              <a:rPr lang="ko-KR" altLang="en-US" sz="1000" dirty="0">
                <a:solidFill>
                  <a:schemeClr val="tx1"/>
                </a:solidFill>
              </a:rPr>
              <a:t>키보드의 초점은 메뉴의 계층 순서대로 이동하도록 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9CBA4E-F88A-654E-7C1E-5C0094F5F8FC}"/>
              </a:ext>
            </a:extLst>
          </p:cNvPr>
          <p:cNvSpPr/>
          <p:nvPr/>
        </p:nvSpPr>
        <p:spPr>
          <a:xfrm>
            <a:off x="2374075" y="227001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1-2-4.6 </a:t>
            </a:r>
            <a:r>
              <a:rPr lang="ko-KR" altLang="en-US" sz="1000" dirty="0">
                <a:solidFill>
                  <a:schemeClr val="tx1"/>
                </a:solidFill>
              </a:rPr>
              <a:t>축소된 메뉴 링크에 보조 기술이 접근되지 않도록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074576-4673-DC00-E2C9-33DF6BE3C3A9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키보드의 탐색 위치를 표시하는 초점이 메뉴의 계층 순서에 맞게 이동되도록 제공해야 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7D13B3-E64C-C1C8-AABD-C9F9918D0F28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39A589-3AE2-9ECE-6AE6-4B5602FD8CF1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보조 기술 사용자들은 의도와 상관없이 숨겨진 링크에 모두 접근하므로 주의해야 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B60AEE-0479-9F53-C471-09E4813F16C9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617929D-DAD8-2AB9-AB99-ED6E87FED0D6}"/>
              </a:ext>
            </a:extLst>
          </p:cNvPr>
          <p:cNvCxnSpPr>
            <a:cxnSpLocks/>
          </p:cNvCxnSpPr>
          <p:nvPr/>
        </p:nvCxnSpPr>
        <p:spPr>
          <a:xfrm>
            <a:off x="2699441" y="4163410"/>
            <a:ext cx="1599661" cy="38319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F8668FB-37EF-8DE4-A799-2A718D54C5FE}"/>
              </a:ext>
            </a:extLst>
          </p:cNvPr>
          <p:cNvCxnSpPr>
            <a:cxnSpLocks/>
          </p:cNvCxnSpPr>
          <p:nvPr/>
        </p:nvCxnSpPr>
        <p:spPr>
          <a:xfrm>
            <a:off x="6427367" y="4668516"/>
            <a:ext cx="1789533" cy="301159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AD4BD1-8876-453D-72E4-46C08C6AF18C}"/>
              </a:ext>
            </a:extLst>
          </p:cNvPr>
          <p:cNvSpPr txBox="1"/>
          <p:nvPr/>
        </p:nvSpPr>
        <p:spPr>
          <a:xfrm>
            <a:off x="4919033" y="3069053"/>
            <a:ext cx="28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초점이 메뉴의 계층 순서에 맞게 이동되고 있음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37072D-A10D-0175-AEB9-9103DE7FB1D7}"/>
              </a:ext>
            </a:extLst>
          </p:cNvPr>
          <p:cNvSpPr txBox="1"/>
          <p:nvPr/>
        </p:nvSpPr>
        <p:spPr>
          <a:xfrm>
            <a:off x="538620" y="2843958"/>
            <a:ext cx="2143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6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Banks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2285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366F-EC66-7BDB-E68D-D735F73E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9E4D84C4-BEC3-1D81-C820-A9949A90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800" y="3455999"/>
            <a:ext cx="4053150" cy="264743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81C1BD2-1C50-20E3-D50C-05E3EA29E402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8DF047-5C34-E4BA-E0E9-42CB34D75797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137507-FAF3-E306-2C79-4AD01846AFC3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D0B0DE1-3908-DDF9-5235-15E4D01A2450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F06113-3C59-B316-D024-3FB1484CAF91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56D0C-1B4B-4C66-861B-0DDB8BBBC979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BCA972-5C21-8CC4-D077-02E1AC294C1C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0888BB-821B-1D20-5E27-F6E87EDC7190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9E3509A-5BAE-44BC-7A8D-14FED1809F80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BF2920F-28DF-F40F-8B25-4FB945F73782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1-2-5. 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페이지네이션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6D1259-FE96-8D5D-3344-3DA90F722A4C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페이지네이션의 전체 컨테이너는 </a:t>
            </a:r>
            <a:r>
              <a:rPr lang="en-US" altLang="ko-KR" sz="1000">
                <a:solidFill>
                  <a:schemeClr val="tx1"/>
                </a:solidFill>
              </a:rPr>
              <a:t>&lt;nav&gt;</a:t>
            </a:r>
            <a:r>
              <a:rPr lang="ko-KR" altLang="en-US" sz="1000">
                <a:solidFill>
                  <a:schemeClr val="tx1"/>
                </a:solidFill>
              </a:rPr>
              <a:t>로 감싸거나 </a:t>
            </a:r>
            <a:r>
              <a:rPr lang="en-US" altLang="ko-KR" sz="1000">
                <a:solidFill>
                  <a:schemeClr val="tx1"/>
                </a:solidFill>
              </a:rPr>
              <a:t>WAI-ARIA </a:t>
            </a:r>
            <a:r>
              <a:rPr lang="ko-KR" altLang="en-US" sz="1000">
                <a:solidFill>
                  <a:schemeClr val="tx1"/>
                </a:solidFill>
              </a:rPr>
              <a:t>영역을 </a:t>
            </a:r>
            <a:r>
              <a:rPr lang="en-US" altLang="ko-KR" sz="1000">
                <a:solidFill>
                  <a:schemeClr val="tx1"/>
                </a:solidFill>
              </a:rPr>
              <a:t>role="navigation"</a:t>
            </a:r>
            <a:r>
              <a:rPr lang="ko-KR" altLang="en-US" sz="1000">
                <a:solidFill>
                  <a:schemeClr val="tx1"/>
                </a:solidFill>
              </a:rPr>
              <a:t>으로 지정하여 스크린 리더에서 내비게이션 요소임을 인지할 수 있도록 제공해야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E5C6AF-F82D-B68C-0294-5993339434C3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1-2-5.1 </a:t>
            </a:r>
            <a:r>
              <a:rPr lang="ko-KR" altLang="en-US" sz="1000" dirty="0" err="1">
                <a:solidFill>
                  <a:schemeClr val="tx1"/>
                </a:solidFill>
              </a:rPr>
              <a:t>페이지네이션의</a:t>
            </a:r>
            <a:r>
              <a:rPr lang="ko-KR" altLang="en-US" sz="1000" dirty="0">
                <a:solidFill>
                  <a:schemeClr val="tx1"/>
                </a:solidFill>
              </a:rPr>
              <a:t> 컨테이너가 내비게이션 섹션임을 스크린 리더에서 인지할 수 있도록 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A9036E-D08F-2508-0011-5E422A444F1F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5CAF4A-E207-1B20-2845-1A9FF7E32C57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1-2-5.2 </a:t>
            </a:r>
            <a:r>
              <a:rPr lang="ko-KR" altLang="en-US" sz="1000" dirty="0">
                <a:solidFill>
                  <a:schemeClr val="tx1"/>
                </a:solidFill>
              </a:rPr>
              <a:t>숫자 링크 목록의 구조를 표현해야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799622-562F-57CD-36AD-3B2C5F5088F8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1-2-5.3 </a:t>
            </a:r>
            <a:r>
              <a:rPr lang="ko-KR" altLang="en-US" sz="1000" dirty="0">
                <a:solidFill>
                  <a:schemeClr val="tx1"/>
                </a:solidFill>
              </a:rPr>
              <a:t>스크린 리더에서 확인할 수 있는 현재 화면 정보를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D3848B-3BB8-152F-29DA-9A45ECF6A86A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스크린 리더 사용자가 페이지네이션의 항목 수를 빠르게 파악할 수 있도록 </a:t>
            </a:r>
            <a:r>
              <a:rPr lang="en-US" altLang="ko-KR" sz="1000">
                <a:solidFill>
                  <a:schemeClr val="tx1"/>
                </a:solidFill>
              </a:rPr>
              <a:t>&lt;ul&gt;, &lt;li&gt; </a:t>
            </a:r>
            <a:r>
              <a:rPr lang="ko-KR" altLang="en-US" sz="1000">
                <a:solidFill>
                  <a:schemeClr val="tx1"/>
                </a:solidFill>
              </a:rPr>
              <a:t>태그를 활용하여 계층 구조로 정보를 제공해야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C10200-6A00-538D-D0BC-2EC5DDF6B80D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22B9F4-5982-F066-76E2-F966063B23FF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스크린 리더 사용자가 시각적으로 표시된 현재 화면 정보를 동등하게 전달받을 수 있도록 현재 화면 링크의 </a:t>
            </a:r>
            <a:r>
              <a:rPr lang="en-US" altLang="ko-KR" sz="1000">
                <a:solidFill>
                  <a:schemeClr val="tx1"/>
                </a:solidFill>
              </a:rPr>
              <a:t>href </a:t>
            </a:r>
            <a:r>
              <a:rPr lang="ko-KR" altLang="en-US" sz="1000">
                <a:solidFill>
                  <a:schemeClr val="tx1"/>
                </a:solidFill>
              </a:rPr>
              <a:t>속성을 삭제하고 </a:t>
            </a:r>
            <a:r>
              <a:rPr lang="en-US" altLang="ko-KR" sz="1000">
                <a:solidFill>
                  <a:schemeClr val="tx1"/>
                </a:solidFill>
              </a:rPr>
              <a:t>aria-current="true"</a:t>
            </a:r>
            <a:r>
              <a:rPr lang="ko-KR" altLang="en-US" sz="1000">
                <a:solidFill>
                  <a:schemeClr val="tx1"/>
                </a:solidFill>
              </a:rPr>
              <a:t>를 부여해야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C349A4-E214-0FC2-25C7-5EBF074F79E5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D7620D-1D3F-B588-48C8-6DE44B78D210}"/>
              </a:ext>
            </a:extLst>
          </p:cNvPr>
          <p:cNvSpPr txBox="1"/>
          <p:nvPr/>
        </p:nvSpPr>
        <p:spPr>
          <a:xfrm>
            <a:off x="538620" y="2844000"/>
            <a:ext cx="36166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Financial Institutions Directory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71750C-ED95-FCC0-A324-453932ED7028}"/>
              </a:ext>
            </a:extLst>
          </p:cNvPr>
          <p:cNvSpPr txBox="1"/>
          <p:nvPr/>
        </p:nvSpPr>
        <p:spPr>
          <a:xfrm>
            <a:off x="6288150" y="2843958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970736-BAED-418C-41B3-835D1B0B6676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481ECB-8065-C1F0-E637-29EC5E306B67}"/>
              </a:ext>
            </a:extLst>
          </p:cNvPr>
          <p:cNvSpPr/>
          <p:nvPr/>
        </p:nvSpPr>
        <p:spPr>
          <a:xfrm>
            <a:off x="6849800" y="3402001"/>
            <a:ext cx="4326200" cy="31275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FA9037-E0F4-0C7B-E4F8-91A5010EE7CE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441BF9-E9AE-4497-83CB-9D972A2D74E3}"/>
              </a:ext>
            </a:extLst>
          </p:cNvPr>
          <p:cNvSpPr txBox="1"/>
          <p:nvPr/>
        </p:nvSpPr>
        <p:spPr>
          <a:xfrm>
            <a:off x="2034000" y="5472000"/>
            <a:ext cx="31197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네비게이션 요소를 인지할 수 있는 속성을 제공하지 않음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D629962-B2E3-B5D1-2887-7ECF42587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3456000"/>
            <a:ext cx="5716623" cy="1400989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B5EAAB-4F8A-9563-F480-0C788A590152}"/>
              </a:ext>
            </a:extLst>
          </p:cNvPr>
          <p:cNvSpPr/>
          <p:nvPr/>
        </p:nvSpPr>
        <p:spPr>
          <a:xfrm>
            <a:off x="1358546" y="4493651"/>
            <a:ext cx="4421169" cy="482096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02D3FF7-9B78-075A-D628-F494FFD3E36D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 flipV="1">
            <a:off x="5779715" y="3558376"/>
            <a:ext cx="1070085" cy="1176323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59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0437-D253-A0EB-94A9-0F92FBB4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061BADA-03FA-CFEF-EC2B-A73E3427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5716623" cy="14009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DB22C45-99B5-D747-5749-AF2F701EC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432" y="3455999"/>
            <a:ext cx="4053150" cy="264743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9CCAC49-A74D-C7A5-4252-0855E232C8E4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258949-2901-7964-0493-A4463BADB49F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1C1B7C-DE53-5B3A-489A-D05CE73AEE1E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1-2.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탐색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6205ECF-99FB-046D-6EF6-C2D36A7C2C8E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293212-2143-F152-0BAF-B8275A588218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0402B9-FF9E-4C16-F827-BE4F4B73AF00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6CA6BA-0566-D23E-5BD2-0B9517F6A55B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8126AA-A88A-4D92-1749-4BAFED4BDDDD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D945B98-704D-C028-A355-67A4B6802974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A0932F-EB91-C59D-6662-0E05AACD579D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1-2-5. 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페이지네이션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CAEDC69-3ADD-D1B6-029A-F0E944BBDADD}"/>
              </a:ext>
            </a:extLst>
          </p:cNvPr>
          <p:cNvSpPr/>
          <p:nvPr/>
        </p:nvSpPr>
        <p:spPr>
          <a:xfrm>
            <a:off x="408606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3B502B5-7898-F089-1772-0425BB9B1AF4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4636607-FACD-A196-EFFE-C50B78B1D86C}"/>
              </a:ext>
            </a:extLst>
          </p:cNvPr>
          <p:cNvSpPr/>
          <p:nvPr/>
        </p:nvSpPr>
        <p:spPr>
          <a:xfrm>
            <a:off x="1358546" y="4493651"/>
            <a:ext cx="4421169" cy="482096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2C0E49-7529-E922-9A63-74689704D47E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스크린 리더 사용자가 숫자 링크의 용도를 보다 명확하게 인지할 수 있도록 </a:t>
            </a:r>
            <a:r>
              <a:rPr lang="en-US" altLang="ko-KR" sz="1000" dirty="0">
                <a:solidFill>
                  <a:schemeClr val="tx1"/>
                </a:solidFill>
              </a:rPr>
              <a:t>aria-label="</a:t>
            </a:r>
            <a:r>
              <a:rPr lang="ko-KR" altLang="en-US" sz="1000" dirty="0">
                <a:solidFill>
                  <a:schemeClr val="tx1"/>
                </a:solidFill>
              </a:rPr>
              <a:t>페이지 </a:t>
            </a:r>
            <a:r>
              <a:rPr lang="en-US" altLang="ko-KR" sz="1000" dirty="0">
                <a:solidFill>
                  <a:schemeClr val="tx1"/>
                </a:solidFill>
              </a:rPr>
              <a:t>1", aria label="</a:t>
            </a:r>
            <a:r>
              <a:rPr lang="ko-KR" altLang="en-US" sz="1000" dirty="0">
                <a:solidFill>
                  <a:schemeClr val="tx1"/>
                </a:solidFill>
              </a:rPr>
              <a:t>페이지 </a:t>
            </a:r>
            <a:r>
              <a:rPr lang="en-US" altLang="ko-KR" sz="1000" dirty="0">
                <a:solidFill>
                  <a:schemeClr val="tx1"/>
                </a:solidFill>
              </a:rPr>
              <a:t>2" </a:t>
            </a:r>
            <a:r>
              <a:rPr lang="ko-KR" altLang="en-US" sz="1000" dirty="0">
                <a:solidFill>
                  <a:schemeClr val="tx1"/>
                </a:solidFill>
              </a:rPr>
              <a:t>또는 </a:t>
            </a:r>
            <a:r>
              <a:rPr lang="en-US" altLang="ko-KR" sz="1000" dirty="0">
                <a:solidFill>
                  <a:schemeClr val="tx1"/>
                </a:solidFill>
              </a:rPr>
              <a:t>title="</a:t>
            </a:r>
            <a:r>
              <a:rPr lang="ko-KR" altLang="en-US" sz="1000" dirty="0">
                <a:solidFill>
                  <a:schemeClr val="tx1"/>
                </a:solidFill>
              </a:rPr>
              <a:t>페이지</a:t>
            </a:r>
            <a:r>
              <a:rPr lang="en-US" altLang="ko-KR" sz="1000" dirty="0">
                <a:solidFill>
                  <a:schemeClr val="tx1"/>
                </a:solidFill>
              </a:rPr>
              <a:t>"</a:t>
            </a:r>
            <a:r>
              <a:rPr lang="ko-KR" altLang="en-US" sz="1000" dirty="0">
                <a:solidFill>
                  <a:schemeClr val="tx1"/>
                </a:solidFill>
              </a:rPr>
              <a:t>와 같은 방식으로 접근 가능한 이름이나 보조적 설명을 제공해야 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5468CA-0160-FA2C-38A0-7218D4684A58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1-2-5.4 </a:t>
            </a:r>
            <a:r>
              <a:rPr lang="ko-KR" altLang="en-US" sz="1000" dirty="0">
                <a:solidFill>
                  <a:schemeClr val="tx1"/>
                </a:solidFill>
              </a:rPr>
              <a:t>숫자 링크에 적절한 접근 가능한 이름을 제공해야 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2B6674-E50B-EFBE-F45E-DFA57D85ADD9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625F80-5C90-EE54-A253-556DAEC8E86E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1-2-5.5 </a:t>
            </a:r>
            <a:r>
              <a:rPr lang="ko-KR" altLang="en-US" sz="1000" dirty="0">
                <a:solidFill>
                  <a:schemeClr val="tx1"/>
                </a:solidFill>
              </a:rPr>
              <a:t>이전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다음 화면 이동 버튼을 아이콘으로만 제공하는 경우 이름을 제공해야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C57C4B-5F34-48B6-8DF9-83A460818FAB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1-2-5.6 </a:t>
            </a:r>
            <a:r>
              <a:rPr lang="ko-KR" altLang="en-US" sz="1000" dirty="0">
                <a:solidFill>
                  <a:schemeClr val="tx1"/>
                </a:solidFill>
              </a:rPr>
              <a:t>목록 확장 </a:t>
            </a:r>
            <a:r>
              <a:rPr lang="ko-KR" altLang="en-US" sz="1000" dirty="0" err="1">
                <a:solidFill>
                  <a:schemeClr val="tx1"/>
                </a:solidFill>
              </a:rPr>
              <a:t>페이지네이션을</a:t>
            </a:r>
            <a:r>
              <a:rPr lang="ko-KR" altLang="en-US" sz="1000" dirty="0">
                <a:solidFill>
                  <a:schemeClr val="tx1"/>
                </a:solidFill>
              </a:rPr>
              <a:t> 사용할 때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초점 이동 순서에 유의해야 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C6B25E-3886-4A36-22BD-4DAB02629FBC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aria-label="</a:t>
            </a:r>
            <a:r>
              <a:rPr lang="ko-KR" altLang="en-US" sz="1000" dirty="0">
                <a:solidFill>
                  <a:schemeClr val="tx1"/>
                </a:solidFill>
              </a:rPr>
              <a:t>이전 페이지</a:t>
            </a:r>
            <a:r>
              <a:rPr lang="en-US" altLang="ko-KR" sz="1000" dirty="0">
                <a:solidFill>
                  <a:schemeClr val="tx1"/>
                </a:solidFill>
              </a:rPr>
              <a:t>", aria-label="</a:t>
            </a:r>
            <a:r>
              <a:rPr lang="ko-KR" altLang="en-US" sz="1000" dirty="0">
                <a:solidFill>
                  <a:schemeClr val="tx1"/>
                </a:solidFill>
              </a:rPr>
              <a:t>다음 페이지</a:t>
            </a:r>
            <a:r>
              <a:rPr lang="en-US" altLang="ko-KR" sz="1000" dirty="0">
                <a:solidFill>
                  <a:schemeClr val="tx1"/>
                </a:solidFill>
              </a:rPr>
              <a:t>"</a:t>
            </a:r>
            <a:r>
              <a:rPr lang="ko-KR" altLang="en-US" sz="1000" dirty="0">
                <a:solidFill>
                  <a:schemeClr val="tx1"/>
                </a:solidFill>
              </a:rPr>
              <a:t>와 같은 방식으로 버튼에 접근 가능한 이름을 제공해야 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5CCD071-524A-EA60-18E3-54D95E7E9AF7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B8A0F3-78E9-2DF7-9DD3-5EE154D10281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더보기</a:t>
            </a:r>
            <a:r>
              <a:rPr lang="ko-KR" altLang="en-US" sz="1000" dirty="0">
                <a:solidFill>
                  <a:schemeClr val="tx1"/>
                </a:solidFill>
              </a:rPr>
              <a:t> 버튼을 눌러 새로운 항목이 생성되었을 때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새로 생성된 항목 중 가장 첫 번째 항목으로 </a:t>
            </a:r>
            <a:r>
              <a:rPr lang="en-US" altLang="ko-KR" sz="1000" dirty="0">
                <a:solidFill>
                  <a:schemeClr val="tx1"/>
                </a:solidFill>
              </a:rPr>
              <a:t>Focus </a:t>
            </a:r>
            <a:r>
              <a:rPr lang="ko-KR" altLang="en-US" sz="1000" dirty="0">
                <a:solidFill>
                  <a:schemeClr val="tx1"/>
                </a:solidFill>
              </a:rPr>
              <a:t>이벤트가 발생해야 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79EE29-7A9D-7075-16F8-37C20CDF798B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A5DD634-6B5B-A2BF-6525-8EF3D9E06C33}"/>
              </a:ext>
            </a:extLst>
          </p:cNvPr>
          <p:cNvCxnSpPr>
            <a:cxnSpLocks/>
          </p:cNvCxnSpPr>
          <p:nvPr/>
        </p:nvCxnSpPr>
        <p:spPr>
          <a:xfrm>
            <a:off x="5802847" y="4734699"/>
            <a:ext cx="1595957" cy="241048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6716F67-2704-33D9-BB52-3050105150AE}"/>
              </a:ext>
            </a:extLst>
          </p:cNvPr>
          <p:cNvSpPr txBox="1"/>
          <p:nvPr/>
        </p:nvSpPr>
        <p:spPr>
          <a:xfrm>
            <a:off x="538620" y="2844000"/>
            <a:ext cx="36166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Financial Institutions Directory</a:t>
            </a:r>
            <a:endParaRPr lang="ko-KR" altLang="en-US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1B0089-24B8-6245-B2CB-70F1EE42F1AD}"/>
              </a:ext>
            </a:extLst>
          </p:cNvPr>
          <p:cNvSpPr/>
          <p:nvPr/>
        </p:nvSpPr>
        <p:spPr>
          <a:xfrm>
            <a:off x="7398804" y="4395748"/>
            <a:ext cx="2343151" cy="1496696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C8DB34-990F-C5EF-30F3-E6DB9D5B5E14}"/>
              </a:ext>
            </a:extLst>
          </p:cNvPr>
          <p:cNvSpPr txBox="1"/>
          <p:nvPr/>
        </p:nvSpPr>
        <p:spPr>
          <a:xfrm>
            <a:off x="2035472" y="5471059"/>
            <a:ext cx="28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>
                <a:solidFill>
                  <a:srgbClr val="0070C0"/>
                </a:solidFill>
              </a:rPr>
              <a:t>순차적으로 초점 이동함</a:t>
            </a:r>
            <a:endParaRPr lang="en-US" altLang="ko-KR" sz="900" dirty="0">
              <a:solidFill>
                <a:srgbClr val="0070C0"/>
              </a:solidFill>
            </a:endParaRPr>
          </a:p>
          <a:p>
            <a:r>
              <a:rPr lang="en-US" altLang="ko-KR" sz="900" dirty="0">
                <a:solidFill>
                  <a:srgbClr val="0070C0"/>
                </a:solidFill>
              </a:rPr>
              <a:t>2. </a:t>
            </a:r>
            <a:r>
              <a:rPr lang="ko-KR" altLang="en-US" sz="900" dirty="0">
                <a:solidFill>
                  <a:srgbClr val="0070C0"/>
                </a:solidFill>
              </a:rPr>
              <a:t>현재 페이지임을 </a:t>
            </a:r>
            <a:r>
              <a:rPr lang="en-US" altLang="ko-KR" sz="900" dirty="0">
                <a:solidFill>
                  <a:srgbClr val="0070C0"/>
                </a:solidFill>
              </a:rPr>
              <a:t>title </a:t>
            </a:r>
            <a:r>
              <a:rPr lang="ko-KR" altLang="en-US" sz="900" dirty="0">
                <a:solidFill>
                  <a:srgbClr val="0070C0"/>
                </a:solidFill>
              </a:rPr>
              <a:t>속성으로 표시함</a:t>
            </a:r>
          </a:p>
        </p:txBody>
      </p:sp>
    </p:spTree>
    <p:extLst>
      <p:ext uri="{BB962C8B-B14F-4D97-AF65-F5344CB8AC3E}">
        <p14:creationId xmlns:p14="http://schemas.microsoft.com/office/powerpoint/2010/main" val="1547923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4EA4-33AA-C34F-398D-A51C88A8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D67DFF1B-0E0D-1966-2879-C5B533C93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7240531" cy="216171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E3866CB-157F-7ECA-6F12-9B0C60EE1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5241318"/>
            <a:ext cx="7215966" cy="120982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D2DC348-0105-272F-15C2-6FBBF0315437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FB49CD-5C17-CA33-C19B-8D37D75FE272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5A9303-2A98-28C8-4EE9-2057779475C3}"/>
              </a:ext>
            </a:extLst>
          </p:cNvPr>
          <p:cNvSpPr/>
          <p:nvPr/>
        </p:nvSpPr>
        <p:spPr>
          <a:xfrm>
            <a:off x="408608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2472451-F039-D9D5-1216-B473E386419C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C974BE-862D-E22D-DD95-BC77A7973709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9F2D37-C848-BEB0-AD5F-2F05103CC5A8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216CF5-67D7-5D49-0A17-329C8AD1DEF4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DF8D87-6961-5EF7-C720-96F0C3A7AD95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1AB0BC3-4B82-D76E-414D-ACFD0C58FEB4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422D4EE-5218-9828-8DF4-FCDD042C5505}"/>
              </a:ext>
            </a:extLst>
          </p:cNvPr>
          <p:cNvSpPr/>
          <p:nvPr/>
        </p:nvSpPr>
        <p:spPr>
          <a:xfrm>
            <a:off x="1391341" y="1386940"/>
            <a:ext cx="914400" cy="1277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1-3-1.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구조화 목록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08408E-0878-8CB8-11BB-30C828E08E8E}"/>
              </a:ext>
            </a:extLst>
          </p:cNvPr>
          <p:cNvSpPr/>
          <p:nvPr/>
        </p:nvSpPr>
        <p:spPr>
          <a:xfrm>
            <a:off x="408606" y="2714918"/>
            <a:ext cx="11374785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B69C3F7-2331-5B63-2076-0C50245A9C8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F1BDE28-FD55-812A-4716-8B1E6CEB6827}"/>
              </a:ext>
            </a:extLst>
          </p:cNvPr>
          <p:cNvCxnSpPr>
            <a:cxnSpLocks/>
          </p:cNvCxnSpPr>
          <p:nvPr/>
        </p:nvCxnSpPr>
        <p:spPr>
          <a:xfrm>
            <a:off x="1155700" y="3938385"/>
            <a:ext cx="5204163" cy="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EADB01-EEFC-4227-48F2-7B54286E33C5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구조화 목록에서 제공되는 모든 기능은 마우스 뿐만 아니라 키보드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터치 인터페이스로 실행할 수 있어야 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5DEEC6-0761-0978-8301-01679430572B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1-3-1.1 </a:t>
            </a:r>
            <a:r>
              <a:rPr lang="ko-KR" altLang="en-US" sz="1000" dirty="0">
                <a:solidFill>
                  <a:schemeClr val="tx1"/>
                </a:solidFill>
              </a:rPr>
              <a:t>구조화 목록에서 제공되는 모든 기능을 키보드로 실행할 수 있도록 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3AA4F9-69C3-A2D5-07CB-C9BA80EFAA3B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09FB21-A4AF-99C6-DDF2-F48F09E99489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1-3-1.2 </a:t>
            </a:r>
            <a:r>
              <a:rPr lang="ko-KR" altLang="en-US" sz="1000" dirty="0">
                <a:solidFill>
                  <a:schemeClr val="tx1"/>
                </a:solidFill>
              </a:rPr>
              <a:t>구조화 목록에서 제공되는 모든 기능에 키보드 초점이 명확하게 표시되도록 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E719E9-7055-2EA9-C526-74D84880AE77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1-3-1.3 </a:t>
            </a:r>
            <a:r>
              <a:rPr lang="ko-KR" altLang="en-US" sz="1000" dirty="0">
                <a:solidFill>
                  <a:schemeClr val="tx1"/>
                </a:solidFill>
              </a:rPr>
              <a:t>구조화 목록에서 제공되는 모든 기능은 사용자가 예측 가능한 방식으로 작동해야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868AFB-D8E1-235A-6435-5AEFDB9F8520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구조화 목록에서 제공되는 모든 사용자 인터페이스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버튼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링크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는 초점을 받은 상태가 시각적으로 명확하게 구분되어야 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70B300-9B37-8954-C698-B8E84F849867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35DE1E-15B2-B44C-12AA-1941EFD848EE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구조화 목록을 정렬하거나 조회하는 기능이 있다면 해당 기능 실행 후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키보드 초점은 정렬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조회 </a:t>
            </a:r>
            <a:r>
              <a:rPr lang="en-US" altLang="ko-KR" sz="1000" dirty="0">
                <a:solidFill>
                  <a:schemeClr val="tx1"/>
                </a:solidFill>
              </a:rPr>
              <a:t>UI</a:t>
            </a:r>
            <a:r>
              <a:rPr lang="ko-KR" altLang="en-US" sz="1000" dirty="0">
                <a:solidFill>
                  <a:schemeClr val="tx1"/>
                </a:solidFill>
              </a:rPr>
              <a:t>에 유지되어야 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8861DE-05B5-951F-F840-7ED54F8908E2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B1133A4-D21A-68F0-3DF7-5278B58D3165}"/>
              </a:ext>
            </a:extLst>
          </p:cNvPr>
          <p:cNvCxnSpPr>
            <a:cxnSpLocks/>
          </p:cNvCxnSpPr>
          <p:nvPr/>
        </p:nvCxnSpPr>
        <p:spPr>
          <a:xfrm flipH="1">
            <a:off x="4366554" y="4324350"/>
            <a:ext cx="2839380" cy="79412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C8679B1-C04E-DB19-4634-B63052F1AE05}"/>
              </a:ext>
            </a:extLst>
          </p:cNvPr>
          <p:cNvCxnSpPr>
            <a:cxnSpLocks/>
          </p:cNvCxnSpPr>
          <p:nvPr/>
        </p:nvCxnSpPr>
        <p:spPr>
          <a:xfrm flipH="1">
            <a:off x="2678547" y="5299245"/>
            <a:ext cx="1593850" cy="772457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5F704E8-2E8F-AB8B-61EA-59BF61EF7E70}"/>
              </a:ext>
            </a:extLst>
          </p:cNvPr>
          <p:cNvCxnSpPr>
            <a:cxnSpLocks/>
          </p:cNvCxnSpPr>
          <p:nvPr/>
        </p:nvCxnSpPr>
        <p:spPr>
          <a:xfrm>
            <a:off x="2462058" y="6535892"/>
            <a:ext cx="3324186" cy="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2A739B-01D5-3B25-F1AD-AEC8223B472D}"/>
              </a:ext>
            </a:extLst>
          </p:cNvPr>
          <p:cNvSpPr txBox="1"/>
          <p:nvPr/>
        </p:nvSpPr>
        <p:spPr>
          <a:xfrm>
            <a:off x="8272959" y="4669429"/>
            <a:ext cx="33790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구조화 목록에서 초점은 순차적으로 이동하고 있음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326197E-94FA-B71D-5052-715D88BDA88E}"/>
              </a:ext>
            </a:extLst>
          </p:cNvPr>
          <p:cNvCxnSpPr>
            <a:cxnSpLocks/>
          </p:cNvCxnSpPr>
          <p:nvPr/>
        </p:nvCxnSpPr>
        <p:spPr>
          <a:xfrm>
            <a:off x="1155700" y="4325735"/>
            <a:ext cx="6050234" cy="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7E0D0B0-1634-22EA-46D8-A1D58EC26364}"/>
              </a:ext>
            </a:extLst>
          </p:cNvPr>
          <p:cNvSpPr txBox="1"/>
          <p:nvPr/>
        </p:nvSpPr>
        <p:spPr>
          <a:xfrm>
            <a:off x="538620" y="2844000"/>
            <a:ext cx="36166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Financial Institutions Directory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40959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BD63E42-38A0-28E8-E325-6284F10E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20" y="3456000"/>
            <a:ext cx="6960727" cy="23823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1-3-2.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2601B0-373E-BA22-419F-7CD50EC14B61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99457-70D6-DC64-F522-F3EDC00C2C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05E248-8123-4F9F-891A-390A85AC2C9D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1-3-2.1</a:t>
            </a:r>
            <a:r>
              <a:rPr lang="ko-KR" altLang="en-US" sz="1000" dirty="0">
                <a:solidFill>
                  <a:schemeClr val="tx1"/>
                </a:solidFill>
              </a:rPr>
              <a:t> 장식용 이미지를 제외한 모든 이미지에 대체 텍스트를 제공해야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7AF7A0-4B51-4E65-943C-E0CEBBD93108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1-3-2.2</a:t>
            </a:r>
            <a:r>
              <a:rPr lang="ko-KR" altLang="en-US" sz="1000" dirty="0">
                <a:solidFill>
                  <a:schemeClr val="tx1"/>
                </a:solidFill>
              </a:rPr>
              <a:t> 가능한 한 이미지 텍스트를 사용하지 말아야 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58DF7C-6958-4F53-9F4F-EB82D92CE087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C432E7B-B1F4-43C4-9D64-44E1D7F8BFFC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71642B-1AA2-4B65-8336-F5ABB69CD409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대체 텍스트는 이미지가 제공하는 정보를 구체적이고 정확하면서도 간결한 내용으로 제공해야 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D6CA45-AB50-48B7-8EDE-0A71303F9DE1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rgbClr val="1E2124"/>
                </a:solidFill>
                <a:latin typeface="Pretendard GOV"/>
              </a:rPr>
              <a:t>저시력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 사용자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,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읽기 장애가 있는 사용자가 텍스트 정보의 표현 방식을 변경하여 콘텐츠를 인지할 수 있도록 심미적인 효과 또는 특정한 텍스트 표현이 필수적인 경우를 제외하고 이미지 텍스트를 사용하지 않아야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6D21F7D-702D-454B-A252-7750AB2C8775}"/>
              </a:ext>
            </a:extLst>
          </p:cNvPr>
          <p:cNvCxnSpPr>
            <a:cxnSpLocks/>
          </p:cNvCxnSpPr>
          <p:nvPr/>
        </p:nvCxnSpPr>
        <p:spPr>
          <a:xfrm>
            <a:off x="7600950" y="4364506"/>
            <a:ext cx="392893" cy="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4438120-3093-3D34-5EF5-407BF2766FB8}"/>
              </a:ext>
            </a:extLst>
          </p:cNvPr>
          <p:cNvSpPr txBox="1"/>
          <p:nvPr/>
        </p:nvSpPr>
        <p:spPr>
          <a:xfrm>
            <a:off x="1923534" y="6219914"/>
            <a:ext cx="8870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70C0"/>
                </a:solidFill>
              </a:rPr>
              <a:t>이미지 사용을 최소화하였고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텍스트와 이미지가 분리되어 정보를 제공하고 있으며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이미지에 텍스트가 포함된 경우에는 대체 텍스트를 제공함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000F44-45B3-20EA-0F7C-91F5631A67B9}"/>
              </a:ext>
            </a:extLst>
          </p:cNvPr>
          <p:cNvSpPr/>
          <p:nvPr/>
        </p:nvSpPr>
        <p:spPr>
          <a:xfrm>
            <a:off x="495031" y="4068394"/>
            <a:ext cx="7105919" cy="1855016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01DE0-0908-B49C-7CA4-56D93238A5C1}"/>
              </a:ext>
            </a:extLst>
          </p:cNvPr>
          <p:cNvSpPr txBox="1"/>
          <p:nvPr/>
        </p:nvSpPr>
        <p:spPr>
          <a:xfrm>
            <a:off x="538620" y="2844000"/>
            <a:ext cx="2975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Laws &amp; Regulations &gt; Regulations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FDC1CFF-B723-B3F8-4E06-17A7DED5D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0127" y="3700828"/>
            <a:ext cx="3505689" cy="226726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9094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EC82C-87C7-6E54-3243-517757A7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9BAC8D5-755E-3A7E-6720-E08A85A3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6887536" cy="263879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269CC15-7A23-3CCC-849B-78D6DB743AF7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48127-4D77-6FD4-1662-02097F79FBF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70D85A-6603-BFFB-BB1C-13C0DC7A7DB7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653D754-A72E-8F95-8F24-849EFD9BA0F6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9638E1-7188-BA1D-2F93-5853C34E70A1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9A2659-8E9D-BD94-0C9D-68DCA5528F35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E66674-D36A-05BE-0BBD-ADC1B8C5922A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50C266-C06C-7305-F0F4-D03BAE179737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532225-C1CB-3DDF-4F55-1A634620F44F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A2132C-624D-2314-D159-6506F34AE34E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1-3-3. 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캐러셀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54A17A-FFC5-5EFF-4FEF-609CFE6834EB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캐러셀</a:t>
            </a:r>
            <a:r>
              <a:rPr lang="ko-KR" altLang="en-US" sz="1000" dirty="0">
                <a:solidFill>
                  <a:schemeClr val="tx1"/>
                </a:solidFill>
              </a:rPr>
              <a:t> 항목과 다른 컨트롤 요소보다 우선적으로 접근 가능하도록 하여 항목을 원활하게 탐색할 수 있도록 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2ECAD9-85C6-68E8-C200-8BBDB89C6F51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1-3-3.1 </a:t>
            </a:r>
            <a:r>
              <a:rPr lang="ko-KR" altLang="en-US" sz="1000" dirty="0">
                <a:solidFill>
                  <a:schemeClr val="tx1"/>
                </a:solidFill>
              </a:rPr>
              <a:t>자동 재생 </a:t>
            </a:r>
            <a:r>
              <a:rPr lang="ko-KR" altLang="en-US" sz="1000" dirty="0" err="1">
                <a:solidFill>
                  <a:schemeClr val="tx1"/>
                </a:solidFill>
              </a:rPr>
              <a:t>캐러셀에서</a:t>
            </a:r>
            <a:r>
              <a:rPr lang="ko-KR" altLang="en-US" sz="1000" dirty="0">
                <a:solidFill>
                  <a:schemeClr val="tx1"/>
                </a:solidFill>
              </a:rPr>
              <a:t> 정지 버튼이 상호작용 가능한 첫 요소로 제공되어야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8FA87A-B3C6-5036-86F6-E0627243BF68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C805CC-B41B-346F-EF15-C4E9DE2B6326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1-3-3.2 </a:t>
            </a:r>
            <a:r>
              <a:rPr lang="ko-KR" altLang="en-US" sz="1000" dirty="0">
                <a:solidFill>
                  <a:schemeClr val="tx1"/>
                </a:solidFill>
              </a:rPr>
              <a:t>단일 지점과의 상호작용을 통해 슬라이드를 탐색할 수 있는 수단을 제공해야 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2214B1-5308-F0AF-D792-0CDBB88A6A45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1-3-3.3 </a:t>
            </a:r>
            <a:r>
              <a:rPr lang="ko-KR" altLang="en-US" sz="1000" dirty="0" err="1">
                <a:solidFill>
                  <a:schemeClr val="tx1"/>
                </a:solidFill>
              </a:rPr>
              <a:t>캐러셀에서</a:t>
            </a:r>
            <a:r>
              <a:rPr lang="ko-KR" altLang="en-US" sz="1000" dirty="0">
                <a:solidFill>
                  <a:schemeClr val="tx1"/>
                </a:solidFill>
              </a:rPr>
              <a:t> 제공되는 모든 기능을 키보드로 실행할 수 있도록 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401EEB-A9D0-6E72-79A1-5C875C57DBC0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경로 기반의 상호작용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다중 지점 상호작용이 아닌 단순 클릭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터치로 탐색할 수 있도록 해야 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B4109B-B781-893A-A06B-1E063F7146FD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FB37A8-4C63-8DAA-4694-EC80034745FF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캐러셀에서</a:t>
            </a:r>
            <a:r>
              <a:rPr lang="ko-KR" altLang="en-US" sz="1000" dirty="0">
                <a:solidFill>
                  <a:schemeClr val="tx1"/>
                </a:solidFill>
              </a:rPr>
              <a:t> 제공되는 모든 기능은 </a:t>
            </a:r>
            <a:r>
              <a:rPr lang="ko-KR" altLang="en-US" sz="1000" dirty="0" err="1">
                <a:solidFill>
                  <a:schemeClr val="tx1"/>
                </a:solidFill>
              </a:rPr>
              <a:t>마우스뿐만</a:t>
            </a:r>
            <a:r>
              <a:rPr lang="ko-KR" altLang="en-US" sz="1000" dirty="0">
                <a:solidFill>
                  <a:schemeClr val="tx1"/>
                </a:solidFill>
              </a:rPr>
              <a:t> 아니라 키보드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터치 인터페이스로 실행할 수 있어야 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C78839-89C8-4DE8-1E4C-6C53DAAF984E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B94ABA-67AB-11D0-6184-CE66C7962188}"/>
              </a:ext>
            </a:extLst>
          </p:cNvPr>
          <p:cNvSpPr txBox="1"/>
          <p:nvPr/>
        </p:nvSpPr>
        <p:spPr>
          <a:xfrm>
            <a:off x="538620" y="2844000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endParaRPr lang="ko-KR" altLang="en-US" sz="10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73E126-4671-973C-DD63-CDFCB4C38047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ECA9B7D-84D1-1AFC-9E33-F473E26CC313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7079CAE-6793-BF27-8253-4F526FD40601}"/>
              </a:ext>
            </a:extLst>
          </p:cNvPr>
          <p:cNvSpPr/>
          <p:nvPr/>
        </p:nvSpPr>
        <p:spPr>
          <a:xfrm>
            <a:off x="434006" y="4435447"/>
            <a:ext cx="747643" cy="714403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4AA242-BB48-92CE-9339-82731D829585}"/>
              </a:ext>
            </a:extLst>
          </p:cNvPr>
          <p:cNvSpPr txBox="1"/>
          <p:nvPr/>
        </p:nvSpPr>
        <p:spPr>
          <a:xfrm>
            <a:off x="8107099" y="4348826"/>
            <a:ext cx="28600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첫 요소로 </a:t>
            </a:r>
            <a:r>
              <a:rPr lang="en-US" altLang="ko-KR" sz="900" dirty="0">
                <a:solidFill>
                  <a:srgbClr val="FF0000"/>
                </a:solidFill>
              </a:rPr>
              <a:t>“</a:t>
            </a:r>
            <a:r>
              <a:rPr lang="ko-KR" altLang="en-US" sz="900" dirty="0">
                <a:solidFill>
                  <a:srgbClr val="FF0000"/>
                </a:solidFill>
              </a:rPr>
              <a:t>이전 배너 슬라이드</a:t>
            </a:r>
            <a:r>
              <a:rPr lang="en-US" altLang="ko-KR" sz="900" dirty="0">
                <a:solidFill>
                  <a:srgbClr val="FF0000"/>
                </a:solidFill>
              </a:rPr>
              <a:t>” </a:t>
            </a:r>
            <a:r>
              <a:rPr lang="ko-KR" altLang="en-US" sz="900" dirty="0">
                <a:solidFill>
                  <a:srgbClr val="FF0000"/>
                </a:solidFill>
              </a:rPr>
              <a:t>버튼으로 </a:t>
            </a:r>
            <a:r>
              <a:rPr lang="ko-KR" altLang="en-US" sz="900" dirty="0" err="1">
                <a:solidFill>
                  <a:srgbClr val="FF0000"/>
                </a:solidFill>
              </a:rPr>
              <a:t>포커싱</a:t>
            </a:r>
            <a:r>
              <a:rPr lang="ko-KR" altLang="en-US" sz="900" dirty="0">
                <a:solidFill>
                  <a:srgbClr val="FF0000"/>
                </a:solidFill>
              </a:rPr>
              <a:t> 됨</a:t>
            </a:r>
          </a:p>
        </p:txBody>
      </p:sp>
    </p:spTree>
    <p:extLst>
      <p:ext uri="{BB962C8B-B14F-4D97-AF65-F5344CB8AC3E}">
        <p14:creationId xmlns:p14="http://schemas.microsoft.com/office/powerpoint/2010/main" val="502666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6A2E-82F6-5DC4-EA51-1A37DAB4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9478885E-6428-9BD4-2BE0-C88A5E09D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09" y="5701565"/>
            <a:ext cx="5167756" cy="4341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1E78CC5-7FD6-2140-E4E1-31010E1C21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602"/>
          <a:stretch>
            <a:fillRect/>
          </a:stretch>
        </p:blipFill>
        <p:spPr>
          <a:xfrm>
            <a:off x="6300000" y="3456000"/>
            <a:ext cx="5315692" cy="27473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013D261-705D-B148-4659-99CFA9230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1" y="3456000"/>
            <a:ext cx="5332382" cy="20696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78A7972-4494-25E7-B128-89229B4065B9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8226CB-EB1F-312B-2B57-82989165586F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8E582B-878F-F9ED-18D6-C334F28C38CA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F4FBD31-90FE-82B5-E986-A889E584E98B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0068D7-145D-6A72-73FC-1B93C14D93B0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1DDD4B-D1BB-5D51-A1B4-2A2A572656F3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D1D642-6658-9BAB-383F-B6B39477A2FE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FEDD14-9D94-B379-E209-F8D42118BC90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F4C7CFC-3D57-4543-3002-35269C642E65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96F2F4-1649-7271-20C7-336986D45F69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1-3-3. 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캐러셀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53A7EB-0C4A-9E00-8273-F0070C98FFEA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1-3-3.4 </a:t>
            </a:r>
            <a:r>
              <a:rPr lang="ko-KR" altLang="en-US" sz="1000" dirty="0">
                <a:solidFill>
                  <a:schemeClr val="tx1"/>
                </a:solidFill>
              </a:rPr>
              <a:t>키보드와 스크린 리더는 기본 항목에만 접근하도록 해야 함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2DDD31-88C2-F826-06C4-6CD1E414274B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1-3-3.5 </a:t>
            </a:r>
            <a:r>
              <a:rPr lang="ko-KR" altLang="en-US" sz="1000" dirty="0">
                <a:solidFill>
                  <a:schemeClr val="tx1"/>
                </a:solidFill>
              </a:rPr>
              <a:t>텍스트가 포함된 이미지를 사용하지 말아야 함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1D9175-7C8E-D8C9-516F-A43A96814D35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220DE70-DFAD-F147-FFE4-05830DDE88F1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FB1F3E-5A7B-CAB4-3496-6E46E85C25C5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작은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가려진 항목에는 </a:t>
            </a:r>
            <a:r>
              <a:rPr lang="en-US" altLang="ko-KR" sz="1000" dirty="0" err="1">
                <a:solidFill>
                  <a:schemeClr val="tx1"/>
                </a:solidFill>
              </a:rPr>
              <a:t>tabindex</a:t>
            </a:r>
            <a:r>
              <a:rPr lang="en-US" altLang="ko-KR" sz="1000" dirty="0">
                <a:solidFill>
                  <a:schemeClr val="tx1"/>
                </a:solidFill>
              </a:rPr>
              <a:t>='-1', aria-hidden='true' </a:t>
            </a:r>
            <a:r>
              <a:rPr lang="ko-KR" altLang="en-US" sz="1000" dirty="0">
                <a:solidFill>
                  <a:schemeClr val="tx1"/>
                </a:solidFill>
              </a:rPr>
              <a:t>속성이나 </a:t>
            </a:r>
            <a:r>
              <a:rPr lang="en-US" altLang="ko-KR" sz="1000" dirty="0" err="1">
                <a:solidFill>
                  <a:schemeClr val="tx1"/>
                </a:solidFill>
              </a:rPr>
              <a:t>display:none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스타일을 적용하여 사용자가 의도적으로 항목 탐색을 시도하기 전까지 작은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가려진 항목에 초점이 진입하지 않도록 해야 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22C237-E94B-861C-2027-479BBA1982B5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슬라이드에 이미지를 추가하는 경우 로고의 일부가 아닌 한 텍스트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(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텍스트가 이미지의 일부인 경우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)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가 포함된 슬라이드는 피해야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9E3A6-0670-5164-CEEC-08A49521D5A7}"/>
              </a:ext>
            </a:extLst>
          </p:cNvPr>
          <p:cNvSpPr txBox="1"/>
          <p:nvPr/>
        </p:nvSpPr>
        <p:spPr>
          <a:xfrm>
            <a:off x="538620" y="2844000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6"/>
              </a:rPr>
              <a:t>금융감독원</a:t>
            </a:r>
            <a:endParaRPr lang="ko-KR" alt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92F19B-6FCC-E593-8B6E-53D274F58867}"/>
              </a:ext>
            </a:extLst>
          </p:cNvPr>
          <p:cNvSpPr txBox="1"/>
          <p:nvPr/>
        </p:nvSpPr>
        <p:spPr>
          <a:xfrm>
            <a:off x="6288150" y="2844000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7"/>
              </a:rPr>
              <a:t>고용노동부</a:t>
            </a:r>
            <a:endParaRPr lang="ko-KR" altLang="en-US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FC7E07-35BC-846D-BCC8-7BA3F5A6C0C9}"/>
              </a:ext>
            </a:extLst>
          </p:cNvPr>
          <p:cNvSpPr/>
          <p:nvPr/>
        </p:nvSpPr>
        <p:spPr>
          <a:xfrm>
            <a:off x="408606" y="2714918"/>
            <a:ext cx="5648162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1E6202-3CCE-95BA-1EF5-A6E4226E8152}"/>
              </a:ext>
            </a:extLst>
          </p:cNvPr>
          <p:cNvSpPr/>
          <p:nvPr/>
        </p:nvSpPr>
        <p:spPr>
          <a:xfrm>
            <a:off x="6134992" y="2714918"/>
            <a:ext cx="56484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F7CA66-FAF4-9EC6-E88E-605F692F334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E25D50-453A-ACFE-B48D-91319D697DAF}"/>
              </a:ext>
            </a:extLst>
          </p:cNvPr>
          <p:cNvSpPr/>
          <p:nvPr/>
        </p:nvSpPr>
        <p:spPr>
          <a:xfrm rot="10800000" flipV="1">
            <a:off x="5168728" y="2781794"/>
            <a:ext cx="824618" cy="2181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BDE082-2CEC-9E95-D056-C4C6DB8DAD4B}"/>
              </a:ext>
            </a:extLst>
          </p:cNvPr>
          <p:cNvSpPr/>
          <p:nvPr/>
        </p:nvSpPr>
        <p:spPr>
          <a:xfrm>
            <a:off x="794385" y="4101436"/>
            <a:ext cx="3022711" cy="1080164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7C22CA-7FC4-09A3-ED49-655834A9A55D}"/>
              </a:ext>
            </a:extLst>
          </p:cNvPr>
          <p:cNvSpPr txBox="1"/>
          <p:nvPr/>
        </p:nvSpPr>
        <p:spPr>
          <a:xfrm>
            <a:off x="1316391" y="6335134"/>
            <a:ext cx="34660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텍스트가 포함된 이미지를 제공하고 있으나 대체 텍스를 제공함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5D6CB5-467B-9D74-0982-8D032A1AC4EB}"/>
              </a:ext>
            </a:extLst>
          </p:cNvPr>
          <p:cNvSpPr txBox="1"/>
          <p:nvPr/>
        </p:nvSpPr>
        <p:spPr>
          <a:xfrm>
            <a:off x="7770810" y="6335134"/>
            <a:ext cx="2823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텍스트와 이미지를 분리하여 정보를 제공하고 있음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EE40D06-F6D7-3291-DD4F-B1BB170089A7}"/>
              </a:ext>
            </a:extLst>
          </p:cNvPr>
          <p:cNvSpPr/>
          <p:nvPr/>
        </p:nvSpPr>
        <p:spPr>
          <a:xfrm>
            <a:off x="6221776" y="4896210"/>
            <a:ext cx="5561616" cy="104739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1B04936-475D-514A-82EC-DCF9F9BF66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7367" y="5729715"/>
            <a:ext cx="5021683" cy="47785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8034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4AD9-82FA-2B21-09FE-7F399B1F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D42C2778-2CE3-3F48-3CD7-C4A3F9A2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39"/>
          <a:stretch>
            <a:fillRect/>
          </a:stretch>
        </p:blipFill>
        <p:spPr>
          <a:xfrm>
            <a:off x="540000" y="3456000"/>
            <a:ext cx="7114538" cy="239598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236F70D-5745-8DD4-21A6-EE0C1C7BB57C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54CDA8-4C80-6896-9338-3C2CFF5BFC44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8BE7FA-E8B1-B14C-5786-FD5C779C577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C009B83-2AF7-9617-DF0F-B4F323225673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7113E1C-5581-3200-51F3-771556010C0C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375A4F-0694-3FAF-90BE-0FCA378BB8AF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5F1136-4EDB-986F-BC85-F8105152780D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40D4C6-125A-62C2-5B69-2AD9CD29AB41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C9254F5-1BA4-E641-5E36-D4F1300E36A6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05C0C61-2BEA-928B-9BC2-53BD15BE7139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1-3-4. </a:t>
            </a:r>
            <a:r>
              <a:rPr lang="ko-KR" altLang="en-US" sz="1000" dirty="0">
                <a:solidFill>
                  <a:schemeClr val="tx1"/>
                </a:solidFill>
              </a:rPr>
              <a:t>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FBD254-CE73-C1D1-B368-4C3CFE351E30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탭의 선택 상태를 색상 이외의 수단으로 구분할 수 있는 시각적 단서를 제공해야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BA9416-FDC2-81A5-163E-239A10736F2C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1-3-4.1 </a:t>
            </a:r>
            <a:r>
              <a:rPr lang="ko-KR" altLang="en-US" sz="1000" dirty="0">
                <a:solidFill>
                  <a:schemeClr val="tx1"/>
                </a:solidFill>
              </a:rPr>
              <a:t>탭의 선택 상태를 색상으로만 구분하지 말아야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7B73FC-A2F6-BD40-2947-B5D57B08EE99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9FE775-C529-16AF-0419-AF10619B9989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1-3-4.2 </a:t>
            </a:r>
            <a:r>
              <a:rPr lang="ko-KR" altLang="en-US" sz="1000" dirty="0">
                <a:solidFill>
                  <a:schemeClr val="tx1"/>
                </a:solidFill>
              </a:rPr>
              <a:t>탭을 키보드로 탐색하고 실행할 수 있도록 해야 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01970F-F326-9B90-2363-18E0A9899ED3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1-3-4.3 </a:t>
            </a:r>
            <a:r>
              <a:rPr lang="ko-KR" altLang="en-US" sz="1000" dirty="0">
                <a:solidFill>
                  <a:schemeClr val="tx1"/>
                </a:solidFill>
              </a:rPr>
              <a:t>탭의 키보드 초점이 명확하게 표시되도록 해야 함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D438D7-737C-B329-A521-8DDF6DE0399D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탭은 키보드로 접근하여 조작할 수 있어야 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5E6A821-E715-1A09-14D4-67D3FD74199B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5C10CC-8A23-2681-D226-6802473F6739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모든 탭은 초점을 받은 상태가 시각적으로 명확하게 구분되어야 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B3C304-4E17-7B09-94E0-E894FCF0832D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BDCD24-675B-5B1A-235D-364C70CAADCF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07E2F3-F3F6-786C-030B-177B7FD417F3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2D02CC-15D1-1F52-D79A-DFEDD45B96AE}"/>
              </a:ext>
            </a:extLst>
          </p:cNvPr>
          <p:cNvSpPr txBox="1"/>
          <p:nvPr/>
        </p:nvSpPr>
        <p:spPr>
          <a:xfrm>
            <a:off x="7849576" y="4937113"/>
            <a:ext cx="38383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탭의 선택 상태를 </a:t>
            </a:r>
            <a:r>
              <a:rPr lang="en-US" altLang="ko-KR" sz="900" dirty="0">
                <a:solidFill>
                  <a:srgbClr val="0070C0"/>
                </a:solidFill>
              </a:rPr>
              <a:t>1px </a:t>
            </a:r>
            <a:r>
              <a:rPr lang="ko-KR" altLang="en-US" sz="900" dirty="0">
                <a:solidFill>
                  <a:srgbClr val="0070C0"/>
                </a:solidFill>
              </a:rPr>
              <a:t>이상의 테두리 차이 방법으로 구분하고 있음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B7663D-A22F-28D0-0FF0-E7D86F1300C9}"/>
              </a:ext>
            </a:extLst>
          </p:cNvPr>
          <p:cNvSpPr/>
          <p:nvPr/>
        </p:nvSpPr>
        <p:spPr>
          <a:xfrm>
            <a:off x="534105" y="3455999"/>
            <a:ext cx="1243895" cy="1032783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B1B33E-94EC-708A-DB74-D2DB5CB883ED}"/>
              </a:ext>
            </a:extLst>
          </p:cNvPr>
          <p:cNvSpPr/>
          <p:nvPr/>
        </p:nvSpPr>
        <p:spPr>
          <a:xfrm>
            <a:off x="2423251" y="3455999"/>
            <a:ext cx="1399449" cy="1008826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20B3760-B1AF-C8F6-251D-04A1DA8D52D6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778000" y="4463382"/>
            <a:ext cx="6071576" cy="589147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D515CE2-D0DC-D7A3-442C-A2A43F231018}"/>
              </a:ext>
            </a:extLst>
          </p:cNvPr>
          <p:cNvCxnSpPr>
            <a:cxnSpLocks/>
          </p:cNvCxnSpPr>
          <p:nvPr/>
        </p:nvCxnSpPr>
        <p:spPr>
          <a:xfrm>
            <a:off x="3822700" y="4463382"/>
            <a:ext cx="4026876" cy="26029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EDB3077-CDC3-0D1C-726A-C3D8B90842D2}"/>
              </a:ext>
            </a:extLst>
          </p:cNvPr>
          <p:cNvSpPr txBox="1"/>
          <p:nvPr/>
        </p:nvSpPr>
        <p:spPr>
          <a:xfrm>
            <a:off x="7849576" y="4386695"/>
            <a:ext cx="38383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키보드 접근으로 초점 받은 상태를 시각적으로 표현하고 있음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1D9AA-BC59-3120-3507-F45407BACD94}"/>
              </a:ext>
            </a:extLst>
          </p:cNvPr>
          <p:cNvSpPr txBox="1"/>
          <p:nvPr/>
        </p:nvSpPr>
        <p:spPr>
          <a:xfrm>
            <a:off x="538620" y="2843958"/>
            <a:ext cx="2143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Banks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98952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90DB-FEC4-9887-2F32-ECECE69B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D2AF49A1-8B62-623B-7D99-F1DB97A8F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787" y="3481668"/>
            <a:ext cx="3348823" cy="23959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3755672-4461-1A91-D02B-26E32DC121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839"/>
          <a:stretch>
            <a:fillRect/>
          </a:stretch>
        </p:blipFill>
        <p:spPr>
          <a:xfrm>
            <a:off x="540000" y="3456000"/>
            <a:ext cx="7114538" cy="239598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5B31BD2-568F-1C15-4E80-43E5B3EFE5E7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1E0E37-F20E-ED72-E8FA-DAA126424C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A7B8DC-DFA9-74EE-FA40-A472DE7B456C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23B7A7A-265B-7965-0FDB-F13D41421C33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FCAA97C-066A-0670-45CE-E956E7615CE9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6B1BEC-D3B1-66C2-18AD-A9AF95852141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EB0AE4-04F4-5743-F40D-E35900A46C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1B400F-C92B-B81B-17E6-B86C833C541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876B26A-BFB3-60F2-42A8-D7F199BBC267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FA1B9A8-B644-04B9-B9D7-24B01130AAC4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1-3-4. </a:t>
            </a:r>
            <a:r>
              <a:rPr lang="ko-KR" altLang="en-US" sz="1000" dirty="0">
                <a:solidFill>
                  <a:schemeClr val="tx1"/>
                </a:solidFill>
              </a:rPr>
              <a:t>탭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2BC334-2B17-C3A3-ECD9-16CADE3EF3E1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1-3-4.4 </a:t>
            </a:r>
            <a:r>
              <a:rPr lang="ko-KR" altLang="en-US" sz="1000" dirty="0">
                <a:solidFill>
                  <a:schemeClr val="tx1"/>
                </a:solidFill>
              </a:rPr>
              <a:t>탭의 선택 상태를 스크린 리더로 확인할 수 있도록 해야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60708EA-1DBB-37A8-CABC-0CA3EBC03794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1-3-4.5 </a:t>
            </a:r>
            <a:r>
              <a:rPr lang="ko-KR" altLang="en-US" sz="1000" dirty="0">
                <a:solidFill>
                  <a:schemeClr val="tx1"/>
                </a:solidFill>
              </a:rPr>
              <a:t>탭과 패널의 역할 및 관계를 스크린 리더로 확인할 수 있도록 해야 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2C7E78-0917-9984-19CB-CA858977AAD1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B695202-8BB6-E9E5-1F59-BB7C671DAEEF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미준수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B298C9-3903-0570-7FE0-2E7C115075A3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탭 레이블과 탭의 선택 상태를 텍스트로 제공하여 스크린 리더에서 정보를 인지할 수 있도록 해야 함 </a:t>
            </a:r>
            <a:r>
              <a:rPr lang="en-US" altLang="ko-KR" sz="1000" dirty="0">
                <a:solidFill>
                  <a:schemeClr val="tx1"/>
                </a:solidFill>
              </a:rPr>
              <a:t>(title="</a:t>
            </a:r>
            <a:r>
              <a:rPr lang="ko-KR" altLang="en-US" sz="1000" dirty="0">
                <a:solidFill>
                  <a:schemeClr val="tx1"/>
                </a:solidFill>
              </a:rPr>
              <a:t>현재 탭</a:t>
            </a:r>
            <a:r>
              <a:rPr lang="en-US" altLang="ko-KR" sz="1000" dirty="0">
                <a:solidFill>
                  <a:schemeClr val="tx1"/>
                </a:solidFill>
              </a:rPr>
              <a:t>", title="</a:t>
            </a:r>
            <a:r>
              <a:rPr lang="ko-KR" altLang="en-US" sz="1000" dirty="0">
                <a:solidFill>
                  <a:schemeClr val="tx1"/>
                </a:solidFill>
              </a:rPr>
              <a:t>선택됨</a:t>
            </a:r>
            <a:r>
              <a:rPr lang="en-US" altLang="ko-KR" sz="1000" dirty="0">
                <a:solidFill>
                  <a:schemeClr val="tx1"/>
                </a:solidFill>
              </a:rPr>
              <a:t>“ </a:t>
            </a:r>
            <a:r>
              <a:rPr lang="ko-KR" altLang="en-US" sz="1000" dirty="0">
                <a:solidFill>
                  <a:schemeClr val="tx1"/>
                </a:solidFill>
              </a:rPr>
              <a:t>등의 형식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DBC45E-A5EB-580C-4B34-613A7222D243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탭 버튼 목록 영역은 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role="</a:t>
            </a:r>
            <a:r>
              <a:rPr lang="en-US" altLang="ko-KR" sz="1000" dirty="0" err="1">
                <a:solidFill>
                  <a:srgbClr val="1E2124"/>
                </a:solidFill>
                <a:latin typeface="Pretendard GOV"/>
              </a:rPr>
              <a:t>tablist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",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탭 버튼은 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role="tab",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탭 패널은 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role="</a:t>
            </a:r>
            <a:r>
              <a:rPr lang="en-US" altLang="ko-KR" sz="1000" dirty="0" err="1">
                <a:solidFill>
                  <a:srgbClr val="1E2124"/>
                </a:solidFill>
                <a:latin typeface="Pretendard GOV"/>
              </a:rPr>
              <a:t>tabpanel</a:t>
            </a:r>
            <a:r>
              <a:rPr lang="en-US" altLang="ko-KR" sz="1000" dirty="0">
                <a:solidFill>
                  <a:srgbClr val="1E2124"/>
                </a:solidFill>
                <a:latin typeface="Pretendard GOV"/>
              </a:rPr>
              <a:t>"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로 역할을 부여해야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871125-1E70-81B6-98D4-3111574F1327}"/>
              </a:ext>
            </a:extLst>
          </p:cNvPr>
          <p:cNvSpPr/>
          <p:nvPr/>
        </p:nvSpPr>
        <p:spPr>
          <a:xfrm>
            <a:off x="408606" y="2714918"/>
            <a:ext cx="11376000" cy="398339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BF0F143-CA0E-FC1D-1782-E317FF382353}"/>
              </a:ext>
            </a:extLst>
          </p:cNvPr>
          <p:cNvSpPr/>
          <p:nvPr/>
        </p:nvSpPr>
        <p:spPr>
          <a:xfrm>
            <a:off x="7955663" y="3384872"/>
            <a:ext cx="3728229" cy="320004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F147B4-62D1-5C6E-5EAA-40B4C32691F5}"/>
              </a:ext>
            </a:extLst>
          </p:cNvPr>
          <p:cNvSpPr txBox="1"/>
          <p:nvPr/>
        </p:nvSpPr>
        <p:spPr>
          <a:xfrm>
            <a:off x="3101248" y="6256160"/>
            <a:ext cx="5990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탭 목록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탭 버튼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탭 패널에 대한 역할이 부여되지 않음으로 스크린리더 사용자에게 정확한 정보를 전달하지 못함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B77EEB-FC5E-B98D-F6B0-2D96643B918C}"/>
              </a:ext>
            </a:extLst>
          </p:cNvPr>
          <p:cNvSpPr/>
          <p:nvPr/>
        </p:nvSpPr>
        <p:spPr>
          <a:xfrm>
            <a:off x="490356" y="3374891"/>
            <a:ext cx="7364594" cy="118244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86E56F3-2CC8-5A14-0448-515CD5147D4F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미준수사례</a:t>
            </a:r>
            <a:endParaRPr lang="ko-KR" alt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9DDF48-6646-9CE1-5B16-0AD3F7B6FCF0}"/>
              </a:ext>
            </a:extLst>
          </p:cNvPr>
          <p:cNvSpPr txBox="1"/>
          <p:nvPr/>
        </p:nvSpPr>
        <p:spPr>
          <a:xfrm>
            <a:off x="538620" y="2843958"/>
            <a:ext cx="2143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Banks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20232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CEF9A-73AF-19F1-7AA5-3A2DC3BB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29F49FD8-6D4B-41E5-95DE-B80CF7039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3456000"/>
            <a:ext cx="3295110" cy="32169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6A09FC7-3C98-C3B7-E8CE-E7316810C155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9EB12D-3137-D55F-2E69-54088C1A3B20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17B046-30B3-8236-3A22-8F9F6F136C75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1-3.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레이아웃 표현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D966299-EDAB-4D50-98A4-20AA0F8082B6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A37D1B2-6344-2EC2-94BC-F55B1E7DF563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9A5990-2AC9-27F0-3715-96382C4E3438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4D86B5-3E1F-A1E7-B0AC-A6D9BD33CC9F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E51DDD-AF53-1425-12A2-8205B0F4B2A4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9F21C3-8DAF-04A6-00C9-384AC766071D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CB3AA54-6BF8-0D72-FFCA-A0375D35CF7F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1-3-5.</a:t>
            </a:r>
            <a:r>
              <a:rPr lang="ko-KR" altLang="en-US" sz="1000" dirty="0">
                <a:solidFill>
                  <a:schemeClr val="tx1"/>
                </a:solidFill>
              </a:rPr>
              <a:t> 표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A46F63-C536-EB21-D4D1-10C159C070AD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1-3-5.1 </a:t>
            </a:r>
            <a:r>
              <a:rPr lang="ko-KR" altLang="en-US" sz="1000" dirty="0">
                <a:solidFill>
                  <a:schemeClr val="tx1"/>
                </a:solidFill>
              </a:rPr>
              <a:t>데이터의 구조를 적절하게 반영하여 마크업 해야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C683FB6-4063-9E1C-E279-8F9B3796F661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1-3-5.2 </a:t>
            </a:r>
            <a:r>
              <a:rPr lang="ko-KR" altLang="en-US" sz="1000" dirty="0">
                <a:solidFill>
                  <a:schemeClr val="tx1"/>
                </a:solidFill>
              </a:rPr>
              <a:t>가로 스크롤이 필요한 경우 단순한 동작으로 스크롤 위치를 조정할 수 있도록 해야 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0FD71F-429A-8DFC-FF5A-208E257CCB84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9296236-CE6E-F1A0-9A71-F87B85A30F7A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88DBA1-0265-B3B0-D92E-CAA032C03F67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표는 </a:t>
            </a:r>
            <a:r>
              <a:rPr lang="en-US" altLang="ko-KR" sz="1000" dirty="0">
                <a:solidFill>
                  <a:schemeClr val="tx1"/>
                </a:solidFill>
              </a:rPr>
              <a:t>&lt;table&gt;</a:t>
            </a:r>
            <a:r>
              <a:rPr lang="ko-KR" altLang="en-US" sz="1000" dirty="0">
                <a:solidFill>
                  <a:schemeClr val="tx1"/>
                </a:solidFill>
              </a:rPr>
              <a:t>로 마크업하고 </a:t>
            </a:r>
            <a:r>
              <a:rPr lang="en-US" altLang="ko-KR" sz="1000" dirty="0">
                <a:solidFill>
                  <a:schemeClr val="tx1"/>
                </a:solidFill>
              </a:rPr>
              <a:t>&lt;caption&gt;, &lt;</a:t>
            </a:r>
            <a:r>
              <a:rPr lang="en-US" altLang="ko-KR" sz="1000" dirty="0" err="1">
                <a:solidFill>
                  <a:schemeClr val="tx1"/>
                </a:solidFill>
              </a:rPr>
              <a:t>thead</a:t>
            </a:r>
            <a:r>
              <a:rPr lang="en-US" altLang="ko-KR" sz="1000" dirty="0">
                <a:solidFill>
                  <a:schemeClr val="tx1"/>
                </a:solidFill>
              </a:rPr>
              <a:t>&gt;, &lt;</a:t>
            </a:r>
            <a:r>
              <a:rPr lang="en-US" altLang="ko-KR" sz="1000" dirty="0" err="1">
                <a:solidFill>
                  <a:schemeClr val="tx1"/>
                </a:solidFill>
              </a:rPr>
              <a:t>th</a:t>
            </a:r>
            <a:r>
              <a:rPr lang="en-US" altLang="ko-KR" sz="1000" dirty="0">
                <a:solidFill>
                  <a:schemeClr val="tx1"/>
                </a:solidFill>
              </a:rPr>
              <a:t>&gt;, &lt;</a:t>
            </a:r>
            <a:r>
              <a:rPr lang="en-US" altLang="ko-KR" sz="1000" dirty="0" err="1">
                <a:solidFill>
                  <a:schemeClr val="tx1"/>
                </a:solidFill>
              </a:rPr>
              <a:t>tfoot</a:t>
            </a:r>
            <a:r>
              <a:rPr lang="en-US" altLang="ko-KR" sz="1000" dirty="0">
                <a:solidFill>
                  <a:schemeClr val="tx1"/>
                </a:solidFill>
              </a:rPr>
              <a:t>&gt; </a:t>
            </a:r>
            <a:r>
              <a:rPr lang="ko-KR" altLang="en-US" sz="1000" dirty="0">
                <a:solidFill>
                  <a:schemeClr val="tx1"/>
                </a:solidFill>
              </a:rPr>
              <a:t>태그를 적절히 사용하여 시각적으로 표현된 정보의 구조가 스크린 리더를 통해서도 동등하게 전달될 수 있도록 해야 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4E436D4-4354-3718-8A51-F5D348B01D0C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표 섹션이 스크롤되는 영역임을 인지할 수 있도록 가로 스크롤을 표시하고 버튼을 클릭하거나 </a:t>
            </a:r>
            <a:r>
              <a:rPr lang="ko-KR" altLang="en-US" sz="1000" dirty="0" err="1">
                <a:solidFill>
                  <a:srgbClr val="1E2124"/>
                </a:solidFill>
                <a:latin typeface="Pretendard GOV"/>
              </a:rPr>
              <a:t>탭하는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 단순한 동작만으로도 스크롤 위치를 조정할 수 있도록 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AE3F35-A3B9-AB1F-3953-C35EAC958799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32851-808B-930A-8DEA-7F150E829C74}"/>
              </a:ext>
            </a:extLst>
          </p:cNvPr>
          <p:cNvSpPr txBox="1"/>
          <p:nvPr/>
        </p:nvSpPr>
        <p:spPr>
          <a:xfrm>
            <a:off x="538620" y="2844000"/>
            <a:ext cx="36888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Financial Statistics &gt; Life Insurance Companies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3478A4-A0D3-820D-62F7-660E55B5FDAC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52978B-09C8-A1E1-6308-018D64DF07CC}"/>
              </a:ext>
            </a:extLst>
          </p:cNvPr>
          <p:cNvSpPr txBox="1"/>
          <p:nvPr/>
        </p:nvSpPr>
        <p:spPr>
          <a:xfrm>
            <a:off x="8426450" y="4789779"/>
            <a:ext cx="310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70C0"/>
                </a:solidFill>
              </a:rPr>
              <a:t>해상도에 따라서 자동으로 가로 스크롤이 정상적으로 표시되고 있음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5ECE27-9020-594A-BA55-E158F88EC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7450" y="3456000"/>
            <a:ext cx="3958598" cy="31353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9C9EF4-FF8D-548C-8C67-F54989952120}"/>
              </a:ext>
            </a:extLst>
          </p:cNvPr>
          <p:cNvSpPr/>
          <p:nvPr/>
        </p:nvSpPr>
        <p:spPr>
          <a:xfrm>
            <a:off x="290876" y="6357097"/>
            <a:ext cx="3639774" cy="369332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372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24A8-9FF0-687B-7773-F311BAB7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D2113F4-957D-3611-0DEE-161F44148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7246054" cy="26181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3E14ED9-D1A2-29BE-95A5-0C19659FF278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E330DC-2D66-0AE0-6B9C-BE24AC0BEB16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52711F-212F-7ED2-E7BB-18485CF3469E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1-4. </a:t>
            </a:r>
            <a:r>
              <a:rPr lang="ko-KR" altLang="en-US" sz="1100" dirty="0">
                <a:solidFill>
                  <a:schemeClr val="tx1"/>
                </a:solidFill>
              </a:rPr>
              <a:t>액션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86C695A-032B-6219-02C5-B2B21DC31839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BF095C-E7FD-6079-E319-2D5ECB3105F8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CD5552-8831-E14D-BF3C-A0846C662506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2158D5-7AF0-ED11-D3DA-CB4FB56F3211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063CB2-9AB2-9DA0-A54F-280C5A6C87F5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A77796-2A9D-A3B4-D63C-EB54EAC33793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5FDCCF6-B22E-99E0-CC43-D9D840AB4461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1-4-1. </a:t>
            </a:r>
            <a:r>
              <a:rPr lang="ko-KR" altLang="en-US" sz="1000" dirty="0">
                <a:solidFill>
                  <a:schemeClr val="tx1"/>
                </a:solidFill>
              </a:rPr>
              <a:t>링크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FF6B4D-F1A8-16E2-C8F1-38CB1492892E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48955D-A129-D4DE-F49F-44B35EB02CBA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B49AA4-D37C-A6F1-C56F-A9C6F62C4688}"/>
              </a:ext>
            </a:extLst>
          </p:cNvPr>
          <p:cNvSpPr/>
          <p:nvPr/>
        </p:nvSpPr>
        <p:spPr>
          <a:xfrm>
            <a:off x="3637169" y="4117077"/>
            <a:ext cx="1684131" cy="366771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157E92-E1D1-A214-E0D0-C51BDE4FDCFF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1-4-1.1</a:t>
            </a:r>
            <a:r>
              <a:rPr lang="ko-KR" altLang="en-US" sz="1000" dirty="0">
                <a:solidFill>
                  <a:schemeClr val="tx1"/>
                </a:solidFill>
              </a:rPr>
              <a:t> 비활성화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사용불가 상태인 경우를 제외하고 모든 링크는 키보드로 접근하고 조작할 수 있도록 해야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3715945-CA57-59CD-6F2E-233D55BAC8E2}"/>
              </a:ext>
            </a:extLst>
          </p:cNvPr>
          <p:cNvSpPr/>
          <p:nvPr/>
        </p:nvSpPr>
        <p:spPr>
          <a:xfrm>
            <a:off x="2374075" y="2052678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1-4-1.2</a:t>
            </a:r>
            <a:r>
              <a:rPr lang="ko-KR" altLang="en-US" sz="1000" dirty="0">
                <a:solidFill>
                  <a:schemeClr val="tx1"/>
                </a:solidFill>
              </a:rPr>
              <a:t> 링크로 작동하는 모든 요소는 스크린 리더에서 링크로 인지될 수 있도록 해야 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8CAF8A8-223A-022E-B8CB-5075CE706C5A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FF47EDE-6471-8DDE-03EB-ABE51095A544}"/>
              </a:ext>
            </a:extLst>
          </p:cNvPr>
          <p:cNvSpPr/>
          <p:nvPr/>
        </p:nvSpPr>
        <p:spPr>
          <a:xfrm>
            <a:off x="6427367" y="2052678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2EE73C-1BD0-BC73-7ECC-CA569DFB667A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0" i="0">
                <a:solidFill>
                  <a:srgbClr val="1E2124"/>
                </a:solidFill>
                <a:effectLst/>
                <a:latin typeface="Pretendard GOV"/>
              </a:rPr>
              <a:t>&lt;a&gt;</a:t>
            </a:r>
            <a:r>
              <a:rPr lang="ko-KR" altLang="en-US" sz="1000" b="0" i="0">
                <a:solidFill>
                  <a:srgbClr val="1E2124"/>
                </a:solidFill>
                <a:effectLst/>
                <a:latin typeface="Pretendard GOV"/>
              </a:rPr>
              <a:t>가 스크린 리더에서 컨트롤 요소로 인식되고 키보드로 접근할 수 있도록 </a:t>
            </a:r>
            <a:r>
              <a:rPr lang="en-US" altLang="ko-KR" sz="1000" b="0" i="0">
                <a:solidFill>
                  <a:srgbClr val="1E2124"/>
                </a:solidFill>
                <a:effectLst/>
                <a:latin typeface="Pretendard GOV"/>
              </a:rPr>
              <a:t>href </a:t>
            </a:r>
            <a:r>
              <a:rPr lang="ko-KR" altLang="en-US" sz="1000" b="0" i="0">
                <a:solidFill>
                  <a:srgbClr val="1E2124"/>
                </a:solidFill>
                <a:effectLst/>
                <a:latin typeface="Pretendard GOV"/>
              </a:rPr>
              <a:t>속성을 선언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4AC475-629C-2E9D-3C95-71D140071C40}"/>
              </a:ext>
            </a:extLst>
          </p:cNvPr>
          <p:cNvSpPr/>
          <p:nvPr/>
        </p:nvSpPr>
        <p:spPr>
          <a:xfrm>
            <a:off x="7290885" y="2052677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전반적으로 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&lt;a&gt; tag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로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링크 정보 제공하고 있음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1540123-8610-ADA2-B1A5-396653914C53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321300" y="4349750"/>
            <a:ext cx="2640844" cy="603622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4F79CA-EB74-068B-C73B-5B328856779B}"/>
              </a:ext>
            </a:extLst>
          </p:cNvPr>
          <p:cNvSpPr txBox="1"/>
          <p:nvPr/>
        </p:nvSpPr>
        <p:spPr>
          <a:xfrm>
            <a:off x="538620" y="2844000"/>
            <a:ext cx="36166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Financial Institutions Directory</a:t>
            </a:r>
            <a:endParaRPr lang="ko-KR" altLang="en-US" sz="10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E66B39B-92FC-1A18-D02B-36B0761B5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144" y="4602011"/>
            <a:ext cx="3599902" cy="70272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46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0A32C8DF-123C-BF94-CCCD-E40FFEB85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7275749" cy="226541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491DF64-A336-52C8-3CA3-3DF760485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697" y="3918357"/>
            <a:ext cx="3115110" cy="258163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1-4. </a:t>
            </a:r>
            <a:r>
              <a:rPr lang="ko-KR" altLang="en-US" sz="1100" dirty="0">
                <a:solidFill>
                  <a:schemeClr val="tx1"/>
                </a:solidFill>
              </a:rPr>
              <a:t>액션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비활성화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,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사용불가 상태인 경우를 제외하고 모든 버튼은 키보드로 접근하고 조작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가능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1-4-2.1 </a:t>
            </a:r>
            <a:r>
              <a:rPr lang="ko-KR" altLang="en-US" sz="1000" dirty="0">
                <a:solidFill>
                  <a:schemeClr val="tx1"/>
                </a:solidFill>
              </a:rPr>
              <a:t>모든 버튼은 키보드로 접근하고 조작할 수 있도록 해야 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tx1"/>
                </a:solidFill>
              </a:rPr>
              <a:t>1-4-2.2 </a:t>
            </a:r>
            <a:r>
              <a:rPr lang="ko-KR" altLang="en-US" sz="1000">
                <a:solidFill>
                  <a:schemeClr val="tx1"/>
                </a:solidFill>
              </a:rPr>
              <a:t>버튼의 키보드 초점이 명확하게 표시되도록 해야 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1-4-2.3 </a:t>
            </a:r>
            <a:r>
              <a:rPr lang="ko-KR" altLang="en-US" sz="1000" dirty="0">
                <a:solidFill>
                  <a:schemeClr val="tx1"/>
                </a:solidFill>
              </a:rPr>
              <a:t>버튼으로 작동하는 모든 요소는 스크린 리더에서 버튼으로 인지될 수 있도록 해야 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1-4-2. </a:t>
            </a:r>
            <a:r>
              <a:rPr lang="ko-KR" altLang="en-US" sz="1000" dirty="0">
                <a:solidFill>
                  <a:schemeClr val="tx1"/>
                </a:solidFill>
              </a:rPr>
              <a:t>버튼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 초점을 받은 상태가 시각적으로 명확하게 구분됨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전반적으로 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&lt;button&gt; tag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로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정보 제공하고 있음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2601B0-373E-BA22-419F-7CD50EC14B61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99457-70D6-DC64-F522-F3EDC00C2C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61D7E67-D992-441C-9ADA-7BD7144EE5E6}"/>
              </a:ext>
            </a:extLst>
          </p:cNvPr>
          <p:cNvSpPr/>
          <p:nvPr/>
        </p:nvSpPr>
        <p:spPr>
          <a:xfrm>
            <a:off x="5983056" y="4414755"/>
            <a:ext cx="470169" cy="448399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3EA7B-1BBB-4DF3-AE0D-97827E14E5F7}"/>
              </a:ext>
            </a:extLst>
          </p:cNvPr>
          <p:cNvSpPr txBox="1"/>
          <p:nvPr/>
        </p:nvSpPr>
        <p:spPr>
          <a:xfrm>
            <a:off x="8161705" y="3464201"/>
            <a:ext cx="3319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>
                <a:solidFill>
                  <a:srgbClr val="0070C0"/>
                </a:solidFill>
              </a:rPr>
              <a:t>키보드로 접근 후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버튼의 초점이 명확하게 표시되어 있음</a:t>
            </a:r>
            <a:endParaRPr lang="en-US" altLang="ko-KR" sz="900" dirty="0">
              <a:solidFill>
                <a:srgbClr val="0070C0"/>
              </a:solidFill>
            </a:endParaRPr>
          </a:p>
          <a:p>
            <a:r>
              <a:rPr lang="en-US" altLang="ko-KR" sz="900" dirty="0">
                <a:solidFill>
                  <a:srgbClr val="0070C0"/>
                </a:solidFill>
              </a:rPr>
              <a:t>2. </a:t>
            </a:r>
            <a:r>
              <a:rPr lang="ko-KR" altLang="en-US" sz="900" dirty="0">
                <a:solidFill>
                  <a:srgbClr val="0070C0"/>
                </a:solidFill>
              </a:rPr>
              <a:t>아이콘으로 구성된 버튼의 경우 대체 텍스트를 제공 함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708695A-1314-4BA8-91ED-D65B268163B8}"/>
              </a:ext>
            </a:extLst>
          </p:cNvPr>
          <p:cNvCxnSpPr>
            <a:cxnSpLocks/>
          </p:cNvCxnSpPr>
          <p:nvPr/>
        </p:nvCxnSpPr>
        <p:spPr>
          <a:xfrm>
            <a:off x="6453225" y="4812763"/>
            <a:ext cx="1810472" cy="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B15B6D-CF15-81F2-9FB2-4E13DFF182BE}"/>
              </a:ext>
            </a:extLst>
          </p:cNvPr>
          <p:cNvSpPr txBox="1"/>
          <p:nvPr/>
        </p:nvSpPr>
        <p:spPr>
          <a:xfrm>
            <a:off x="538620" y="2844000"/>
            <a:ext cx="36166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Financial Institutions Directory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92425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065E2233-DC12-5227-DE0A-C0AED3EE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1" y="3456001"/>
            <a:ext cx="6838744" cy="14521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1-5. </a:t>
            </a:r>
            <a:r>
              <a:rPr lang="ko-KR" altLang="en-US" sz="1100" dirty="0">
                <a:solidFill>
                  <a:schemeClr val="tx1"/>
                </a:solidFill>
              </a:rPr>
              <a:t>선택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비활성화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,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사용불가 상태인 경우를 제외하고 모든 라디오 버튼은 키보드로 접근하고 조작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가능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1-5-1.1 </a:t>
            </a:r>
            <a:r>
              <a:rPr lang="ko-KR" altLang="en-US" sz="1000" dirty="0">
                <a:solidFill>
                  <a:schemeClr val="tx1"/>
                </a:solidFill>
              </a:rPr>
              <a:t>라디오 버튼을 키보드로 탐색하고 실행할 수 있도록 해야 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1-5-1.2 </a:t>
            </a:r>
            <a:r>
              <a:rPr lang="ko-KR" altLang="en-US" sz="1000" dirty="0">
                <a:solidFill>
                  <a:schemeClr val="tx1"/>
                </a:solidFill>
              </a:rPr>
              <a:t>라디오 버튼에 키보드 초점이 명확하게 표시되도록 해야 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1-5-1.3 </a:t>
            </a:r>
            <a:r>
              <a:rPr lang="ko-KR" altLang="en-US" sz="1000" dirty="0">
                <a:solidFill>
                  <a:schemeClr val="tx1"/>
                </a:solidFill>
              </a:rPr>
              <a:t>라디오 버튼에 접근 가능한 이름을 제공해야 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1-5-1.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라디오버튼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 초점을 받은 상태가 시각적으로 명확하게 구분됨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스크린 리더 사용자가 라디오 버튼의 용도를 확인할 수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있도록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aria-label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방식을 이용하여 레이블을 제공함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2601B0-373E-BA22-419F-7CD50EC14B61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64ABA-130A-0E55-6D01-70C90F23E61B}"/>
              </a:ext>
            </a:extLst>
          </p:cNvPr>
          <p:cNvSpPr txBox="1"/>
          <p:nvPr/>
        </p:nvSpPr>
        <p:spPr>
          <a:xfrm>
            <a:off x="538620" y="2844000"/>
            <a:ext cx="63562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Regulation on Short Sales &gt; Reporting and Disclosure of Net Positions &gt; Manage Password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99457-70D6-DC64-F522-F3EDC00C2C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3EA7B-1BBB-4DF3-AE0D-97827E14E5F7}"/>
              </a:ext>
            </a:extLst>
          </p:cNvPr>
          <p:cNvSpPr txBox="1"/>
          <p:nvPr/>
        </p:nvSpPr>
        <p:spPr>
          <a:xfrm>
            <a:off x="1793754" y="5262337"/>
            <a:ext cx="436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>
                <a:solidFill>
                  <a:srgbClr val="0070C0"/>
                </a:solidFill>
              </a:rPr>
              <a:t>키보드로 접근 후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라디오 버튼의 초점이 명확하게 표시되어 있음</a:t>
            </a:r>
            <a:endParaRPr lang="en-US" altLang="ko-KR" sz="900" dirty="0">
              <a:solidFill>
                <a:srgbClr val="0070C0"/>
              </a:solidFill>
            </a:endParaRPr>
          </a:p>
          <a:p>
            <a:r>
              <a:rPr lang="en-US" altLang="ko-KR" sz="900" dirty="0">
                <a:solidFill>
                  <a:srgbClr val="0070C0"/>
                </a:solidFill>
              </a:rPr>
              <a:t>2. </a:t>
            </a:r>
            <a:r>
              <a:rPr lang="ko-KR" altLang="en-US" sz="900" dirty="0">
                <a:solidFill>
                  <a:srgbClr val="0070C0"/>
                </a:solidFill>
              </a:rPr>
              <a:t>키보드</a:t>
            </a:r>
            <a:r>
              <a:rPr lang="en-US" altLang="ko-KR" sz="900" dirty="0">
                <a:solidFill>
                  <a:srgbClr val="0070C0"/>
                </a:solidFill>
              </a:rPr>
              <a:t> “tab” </a:t>
            </a:r>
            <a:r>
              <a:rPr lang="ko-KR" altLang="en-US" sz="900" dirty="0">
                <a:solidFill>
                  <a:srgbClr val="0070C0"/>
                </a:solidFill>
              </a:rPr>
              <a:t>키와 </a:t>
            </a:r>
            <a:r>
              <a:rPr lang="en-US" altLang="ko-KR" sz="900" dirty="0">
                <a:solidFill>
                  <a:srgbClr val="0070C0"/>
                </a:solidFill>
              </a:rPr>
              <a:t>“arrow” </a:t>
            </a:r>
            <a:r>
              <a:rPr lang="ko-KR" altLang="en-US" sz="900" dirty="0">
                <a:solidFill>
                  <a:srgbClr val="0070C0"/>
                </a:solidFill>
              </a:rPr>
              <a:t>키로 조작이 가능함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048AEDA-3D2D-403E-814B-55D6AECB9584}"/>
              </a:ext>
            </a:extLst>
          </p:cNvPr>
          <p:cNvSpPr/>
          <p:nvPr/>
        </p:nvSpPr>
        <p:spPr>
          <a:xfrm>
            <a:off x="5490971" y="3618367"/>
            <a:ext cx="1923774" cy="411938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D94CAD3-42DA-1AA7-D827-4A8865E97EFF}"/>
              </a:ext>
            </a:extLst>
          </p:cNvPr>
          <p:cNvCxnSpPr>
            <a:cxnSpLocks/>
          </p:cNvCxnSpPr>
          <p:nvPr/>
        </p:nvCxnSpPr>
        <p:spPr>
          <a:xfrm>
            <a:off x="6359033" y="4030305"/>
            <a:ext cx="1467667" cy="28514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CBE3CDDC-EC8A-BE73-39BF-659255C06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700" y="3456000"/>
            <a:ext cx="2876951" cy="19910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5606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AEC42F3-DA45-AB68-C5F3-F673294F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99" y="3456000"/>
            <a:ext cx="5783033" cy="318797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1-5. </a:t>
            </a:r>
            <a:r>
              <a:rPr lang="ko-KR" altLang="en-US" sz="1100" dirty="0">
                <a:solidFill>
                  <a:schemeClr val="tx1"/>
                </a:solidFill>
              </a:rPr>
              <a:t>선택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386939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비활성화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,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사용불가 상태인 경우를 제외하고 모든 </a:t>
            </a:r>
            <a:r>
              <a:rPr lang="ko-KR" altLang="en-US" sz="1000" dirty="0">
                <a:solidFill>
                  <a:schemeClr val="tx1"/>
                </a:solidFill>
              </a:rPr>
              <a:t>체크박스는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 키보드로 접근하고 조작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가능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386941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1-5-2.1 </a:t>
            </a:r>
            <a:r>
              <a:rPr lang="ko-KR" altLang="en-US" sz="1000" dirty="0">
                <a:solidFill>
                  <a:schemeClr val="tx1"/>
                </a:solidFill>
              </a:rPr>
              <a:t>체크박스를 키보드로 탐색하고 실행할 수 있도록 해야 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1386940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1826658"/>
            <a:ext cx="3984958" cy="39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1-5-2.2 </a:t>
            </a:r>
            <a:r>
              <a:rPr lang="ko-KR" altLang="en-US" sz="1000" dirty="0">
                <a:solidFill>
                  <a:schemeClr val="tx1"/>
                </a:solidFill>
              </a:rPr>
              <a:t>체크박스에 키보드 초점이 명확하게 표시되도록 해야 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B548CE1-20B5-67AD-79B9-A548EF9090D1}"/>
              </a:ext>
            </a:extLst>
          </p:cNvPr>
          <p:cNvSpPr/>
          <p:nvPr/>
        </p:nvSpPr>
        <p:spPr>
          <a:xfrm>
            <a:off x="2374075" y="2269756"/>
            <a:ext cx="398495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1-5-2.3 </a:t>
            </a:r>
            <a:r>
              <a:rPr lang="ko-KR" altLang="en-US" sz="1000" dirty="0">
                <a:solidFill>
                  <a:schemeClr val="tx1"/>
                </a:solidFill>
              </a:rPr>
              <a:t>체크박스에 접근 가능한 이름을 제공해야 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1-5-2.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1826658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 초점을 받은 상태가 시각적으로 명확하게 구분됨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1826659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AD3B616-532B-94CC-20FB-A8C8076A8A6D}"/>
              </a:ext>
            </a:extLst>
          </p:cNvPr>
          <p:cNvSpPr/>
          <p:nvPr/>
        </p:nvSpPr>
        <p:spPr>
          <a:xfrm>
            <a:off x="7290885" y="2270011"/>
            <a:ext cx="4492507" cy="399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스크린 리더 사용자가 </a:t>
            </a:r>
            <a:r>
              <a:rPr lang="ko-KR" altLang="en-US" sz="1000" dirty="0">
                <a:solidFill>
                  <a:srgbClr val="1E2124"/>
                </a:solidFill>
                <a:latin typeface="Pretendard GOV"/>
              </a:rPr>
              <a:t>체크박스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의 용도를 확인할 수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있도록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 &lt;label&gt;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방식을 이용하여 레이블을 제공함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5F46173-0FF1-04CB-E67D-C49819B98936}"/>
              </a:ext>
            </a:extLst>
          </p:cNvPr>
          <p:cNvSpPr/>
          <p:nvPr/>
        </p:nvSpPr>
        <p:spPr>
          <a:xfrm>
            <a:off x="6427367" y="2270011"/>
            <a:ext cx="778567" cy="399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2601B0-373E-BA22-419F-7CD50EC14B61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99457-70D6-DC64-F522-F3EDC00C2C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6B5B2A3-4D35-4EA6-8382-8AAB8BF616F6}"/>
              </a:ext>
            </a:extLst>
          </p:cNvPr>
          <p:cNvSpPr/>
          <p:nvPr/>
        </p:nvSpPr>
        <p:spPr>
          <a:xfrm>
            <a:off x="3240978" y="4186086"/>
            <a:ext cx="1935616" cy="298664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3339FA7-CFC5-4A46-867F-6E3E68B5BC18}"/>
              </a:ext>
            </a:extLst>
          </p:cNvPr>
          <p:cNvCxnSpPr>
            <a:cxnSpLocks/>
          </p:cNvCxnSpPr>
          <p:nvPr/>
        </p:nvCxnSpPr>
        <p:spPr>
          <a:xfrm>
            <a:off x="5208344" y="4292600"/>
            <a:ext cx="2132990" cy="49340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0A0903B-7B34-B5DC-B318-13B49847E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084" y="4539300"/>
            <a:ext cx="4067743" cy="119079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D217ABF-9279-834C-EAA8-8A94C57075D7}"/>
              </a:ext>
            </a:extLst>
          </p:cNvPr>
          <p:cNvSpPr txBox="1"/>
          <p:nvPr/>
        </p:nvSpPr>
        <p:spPr>
          <a:xfrm>
            <a:off x="538620" y="2844000"/>
            <a:ext cx="69942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Regulation on Short Sales &gt; Reporting on Information of Lending and Borrowing &gt; Report Submission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CE99AA-6F36-4D58-4D59-D946F0635127}"/>
              </a:ext>
            </a:extLst>
          </p:cNvPr>
          <p:cNvSpPr txBox="1"/>
          <p:nvPr/>
        </p:nvSpPr>
        <p:spPr>
          <a:xfrm>
            <a:off x="7370088" y="3713482"/>
            <a:ext cx="366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>
                <a:solidFill>
                  <a:srgbClr val="0070C0"/>
                </a:solidFill>
              </a:rPr>
              <a:t>키보드로 접근 후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체크박스의 초점이 명확하게 표시되어 있음</a:t>
            </a:r>
            <a:endParaRPr lang="en-US" altLang="ko-KR" sz="900" dirty="0">
              <a:solidFill>
                <a:srgbClr val="0070C0"/>
              </a:solidFill>
            </a:endParaRPr>
          </a:p>
          <a:p>
            <a:r>
              <a:rPr lang="en-US" altLang="ko-KR" sz="900" dirty="0">
                <a:solidFill>
                  <a:srgbClr val="0070C0"/>
                </a:solidFill>
              </a:rPr>
              <a:t>2. </a:t>
            </a:r>
            <a:r>
              <a:rPr lang="ko-KR" altLang="en-US" sz="900" dirty="0">
                <a:solidFill>
                  <a:srgbClr val="0070C0"/>
                </a:solidFill>
              </a:rPr>
              <a:t>키보드</a:t>
            </a:r>
            <a:r>
              <a:rPr lang="en-US" altLang="ko-KR" sz="900" dirty="0">
                <a:solidFill>
                  <a:srgbClr val="0070C0"/>
                </a:solidFill>
              </a:rPr>
              <a:t> “tab” </a:t>
            </a:r>
            <a:r>
              <a:rPr lang="ko-KR" altLang="en-US" sz="900" dirty="0">
                <a:solidFill>
                  <a:srgbClr val="0070C0"/>
                </a:solidFill>
              </a:rPr>
              <a:t>키와 </a:t>
            </a:r>
            <a:r>
              <a:rPr lang="en-US" altLang="ko-KR" sz="900" dirty="0">
                <a:solidFill>
                  <a:srgbClr val="0070C0"/>
                </a:solidFill>
              </a:rPr>
              <a:t>“space bar” </a:t>
            </a:r>
            <a:r>
              <a:rPr lang="ko-KR" altLang="en-US" sz="900" dirty="0">
                <a:solidFill>
                  <a:srgbClr val="0070C0"/>
                </a:solidFill>
              </a:rPr>
              <a:t>키로 조작이 가능함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919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D227DF3-AA31-4409-B532-71B5E804D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0" y="3960000"/>
            <a:ext cx="4202798" cy="209245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D8024AE-1DFF-A8EA-4879-1749E21AD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20" y="3456000"/>
            <a:ext cx="5984118" cy="201506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1-5. </a:t>
            </a:r>
            <a:r>
              <a:rPr lang="ko-KR" altLang="en-US" sz="1100" dirty="0">
                <a:solidFill>
                  <a:schemeClr val="tx1"/>
                </a:solidFill>
              </a:rPr>
              <a:t>선택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1-5-3. 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셀렉트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2601B0-373E-BA22-419F-7CD50EC14B61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99457-70D6-DC64-F522-F3EDC00C2C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3EA7B-1BBB-4DF3-AE0D-97827E14E5F7}"/>
              </a:ext>
            </a:extLst>
          </p:cNvPr>
          <p:cNvSpPr txBox="1"/>
          <p:nvPr/>
        </p:nvSpPr>
        <p:spPr>
          <a:xfrm>
            <a:off x="7287546" y="3429000"/>
            <a:ext cx="436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 err="1">
                <a:solidFill>
                  <a:srgbClr val="0070C0"/>
                </a:solidFill>
              </a:rPr>
              <a:t>셀렉트의</a:t>
            </a:r>
            <a:r>
              <a:rPr lang="ko-KR" altLang="en-US" sz="900" dirty="0">
                <a:solidFill>
                  <a:srgbClr val="0070C0"/>
                </a:solidFill>
              </a:rPr>
              <a:t> 용도를 확인할 수 있도록 레이블 제공함</a:t>
            </a:r>
            <a:endParaRPr lang="en-US" altLang="ko-KR" sz="900" dirty="0">
              <a:solidFill>
                <a:srgbClr val="0070C0"/>
              </a:solidFill>
            </a:endParaRPr>
          </a:p>
          <a:p>
            <a:r>
              <a:rPr lang="en-US" altLang="ko-KR" sz="900" dirty="0">
                <a:solidFill>
                  <a:srgbClr val="0070C0"/>
                </a:solidFill>
              </a:rPr>
              <a:t>2. “</a:t>
            </a:r>
            <a:r>
              <a:rPr lang="ko-KR" altLang="en-US" sz="900" dirty="0">
                <a:solidFill>
                  <a:srgbClr val="0070C0"/>
                </a:solidFill>
              </a:rPr>
              <a:t>직접입력</a:t>
            </a:r>
            <a:r>
              <a:rPr lang="en-US" altLang="ko-KR" sz="900" dirty="0">
                <a:solidFill>
                  <a:srgbClr val="0070C0"/>
                </a:solidFill>
              </a:rPr>
              <a:t>” </a:t>
            </a:r>
            <a:r>
              <a:rPr lang="ko-KR" altLang="en-US" sz="900" dirty="0">
                <a:solidFill>
                  <a:srgbClr val="0070C0"/>
                </a:solidFill>
              </a:rPr>
              <a:t>항목에 대해 추가적으로</a:t>
            </a:r>
            <a:r>
              <a:rPr lang="en-US" altLang="ko-KR" sz="900" dirty="0">
                <a:solidFill>
                  <a:srgbClr val="0070C0"/>
                </a:solidFill>
              </a:rPr>
              <a:t> title </a:t>
            </a:r>
            <a:r>
              <a:rPr lang="ko-KR" altLang="en-US" sz="900" dirty="0">
                <a:solidFill>
                  <a:srgbClr val="0070C0"/>
                </a:solidFill>
              </a:rPr>
              <a:t>을 제공함</a:t>
            </a:r>
            <a:endParaRPr lang="en-US" altLang="ko-KR" sz="900" dirty="0">
              <a:solidFill>
                <a:srgbClr val="0070C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5DA31C4-B877-470A-9796-BB118416DD18}"/>
              </a:ext>
            </a:extLst>
          </p:cNvPr>
          <p:cNvCxnSpPr>
            <a:cxnSpLocks/>
          </p:cNvCxnSpPr>
          <p:nvPr/>
        </p:nvCxnSpPr>
        <p:spPr>
          <a:xfrm>
            <a:off x="6427367" y="4862275"/>
            <a:ext cx="661134" cy="278520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43C8BCC-83CA-4562-9A91-045B3D16EF90}"/>
              </a:ext>
            </a:extLst>
          </p:cNvPr>
          <p:cNvSpPr/>
          <p:nvPr/>
        </p:nvSpPr>
        <p:spPr>
          <a:xfrm>
            <a:off x="7290885" y="1386939"/>
            <a:ext cx="4492507" cy="1277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스크린 리더 사용자가 </a:t>
            </a:r>
            <a:r>
              <a:rPr lang="ko-KR" altLang="en-US" sz="1000" b="0" i="0" dirty="0" err="1">
                <a:solidFill>
                  <a:srgbClr val="1E2124"/>
                </a:solidFill>
                <a:effectLst/>
                <a:latin typeface="Pretendard GOV"/>
              </a:rPr>
              <a:t>셀렉트의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 용도를 확인할 수 있도록 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&lt;label&gt;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방식을 이용하여 레이블을 제공함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5871310-1A2E-47C0-8A8A-72786EF2B237}"/>
              </a:ext>
            </a:extLst>
          </p:cNvPr>
          <p:cNvSpPr/>
          <p:nvPr/>
        </p:nvSpPr>
        <p:spPr>
          <a:xfrm>
            <a:off x="2374075" y="1386940"/>
            <a:ext cx="3984958" cy="1277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1-5-3.1 </a:t>
            </a:r>
            <a:r>
              <a:rPr lang="ko-KR" altLang="en-US" sz="1000" dirty="0" err="1">
                <a:solidFill>
                  <a:schemeClr val="tx1"/>
                </a:solidFill>
              </a:rPr>
              <a:t>셀렉트에</a:t>
            </a:r>
            <a:r>
              <a:rPr lang="ko-KR" altLang="en-US" sz="1000" dirty="0">
                <a:solidFill>
                  <a:schemeClr val="tx1"/>
                </a:solidFill>
              </a:rPr>
              <a:t> 접근 가능한 이름을 제공해야 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E93438C-8C72-4E41-AAD6-BDD1E525491A}"/>
              </a:ext>
            </a:extLst>
          </p:cNvPr>
          <p:cNvSpPr/>
          <p:nvPr/>
        </p:nvSpPr>
        <p:spPr>
          <a:xfrm>
            <a:off x="6427367" y="1386938"/>
            <a:ext cx="778567" cy="1278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048AEDA-3D2D-403E-814B-55D6AECB9584}"/>
              </a:ext>
            </a:extLst>
          </p:cNvPr>
          <p:cNvSpPr/>
          <p:nvPr/>
        </p:nvSpPr>
        <p:spPr>
          <a:xfrm>
            <a:off x="5278896" y="3695917"/>
            <a:ext cx="1308847" cy="1825383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5F46CC-1834-1640-9FF8-9E1A2A9AE77D}"/>
              </a:ext>
            </a:extLst>
          </p:cNvPr>
          <p:cNvSpPr/>
          <p:nvPr/>
        </p:nvSpPr>
        <p:spPr>
          <a:xfrm>
            <a:off x="7073900" y="4347865"/>
            <a:ext cx="4438269" cy="407419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FC0DE-079C-AB4B-E8B1-3E12C105BBF6}"/>
              </a:ext>
            </a:extLst>
          </p:cNvPr>
          <p:cNvSpPr txBox="1"/>
          <p:nvPr/>
        </p:nvSpPr>
        <p:spPr>
          <a:xfrm>
            <a:off x="538620" y="2844000"/>
            <a:ext cx="63562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Regulation on Short Sales &gt; Reporting and Disclosure of Net Positions &gt; Administration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02814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2D43174D-B5E7-38ED-0306-47DCD802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938" y="3960000"/>
            <a:ext cx="3162741" cy="253400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A386332-FC4B-1346-299D-AFB3AC3A70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615"/>
          <a:stretch>
            <a:fillRect/>
          </a:stretch>
        </p:blipFill>
        <p:spPr>
          <a:xfrm>
            <a:off x="538620" y="3456000"/>
            <a:ext cx="6033629" cy="30242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E43CC-3828-9D7B-63C9-BB7D2A014D55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1-6. </a:t>
            </a:r>
            <a:r>
              <a:rPr lang="ko-KR" altLang="en-US" sz="1100" dirty="0">
                <a:solidFill>
                  <a:schemeClr val="tx1"/>
                </a:solidFill>
              </a:rPr>
              <a:t>입력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38DC6A-78C3-4AED-8FEE-B121BFA63465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0EAC91-0133-4894-A559-556C73A46C7D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D932B-DE48-4C4E-9569-D8388EF1D83C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52C35-8370-1555-7ED9-ECBBFFC7D0B8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4D55D8-1E42-EB29-4233-48817F59F569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8D95A6-51EC-9480-9626-C2E69E1045E1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C3D868-3BD8-0C8F-E22E-729A2119433B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1-6-1.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날짜 입력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2601B0-373E-BA22-419F-7CD50EC14B61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399457-70D6-DC64-F522-F3EDC00C2CE5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6B5B2A3-4D35-4EA6-8382-8AAB8BF616F6}"/>
              </a:ext>
            </a:extLst>
          </p:cNvPr>
          <p:cNvSpPr/>
          <p:nvPr/>
        </p:nvSpPr>
        <p:spPr>
          <a:xfrm>
            <a:off x="538620" y="3645046"/>
            <a:ext cx="2320047" cy="2431904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3339FA7-CFC5-4A46-867F-6E3E68B5BC18}"/>
              </a:ext>
            </a:extLst>
          </p:cNvPr>
          <p:cNvCxnSpPr>
            <a:cxnSpLocks/>
          </p:cNvCxnSpPr>
          <p:nvPr/>
        </p:nvCxnSpPr>
        <p:spPr>
          <a:xfrm>
            <a:off x="2858667" y="4368980"/>
            <a:ext cx="4428879" cy="659305"/>
          </a:xfrm>
          <a:prstGeom prst="straightConnector1">
            <a:avLst/>
          </a:prstGeom>
          <a:ln w="31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4B5C34-189B-4AB1-A190-40CEFB14C49C}"/>
              </a:ext>
            </a:extLst>
          </p:cNvPr>
          <p:cNvSpPr/>
          <p:nvPr/>
        </p:nvSpPr>
        <p:spPr>
          <a:xfrm>
            <a:off x="2374075" y="1386941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1-6-1.1 </a:t>
            </a:r>
            <a:r>
              <a:rPr lang="ko-KR" altLang="en-US" sz="1000" dirty="0">
                <a:solidFill>
                  <a:schemeClr val="tx1"/>
                </a:solidFill>
              </a:rPr>
              <a:t>키보드를 이용하여 조회 날짜를 선택하거나 입력할 수 있도록 제공해야 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D92025-A53B-4329-A3A0-6968B435D8C6}"/>
              </a:ext>
            </a:extLst>
          </p:cNvPr>
          <p:cNvSpPr/>
          <p:nvPr/>
        </p:nvSpPr>
        <p:spPr>
          <a:xfrm>
            <a:off x="2374075" y="2053253"/>
            <a:ext cx="3984958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1-6-1.2 </a:t>
            </a:r>
            <a:r>
              <a:rPr lang="ko-KR" altLang="en-US" sz="1000" dirty="0">
                <a:solidFill>
                  <a:schemeClr val="tx1"/>
                </a:solidFill>
              </a:rPr>
              <a:t>입력 필드에 레이블을 명확하게 지정해야 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D9BECB-23E0-4E81-BB11-C9FC9DF3BE37}"/>
              </a:ext>
            </a:extLst>
          </p:cNvPr>
          <p:cNvSpPr/>
          <p:nvPr/>
        </p:nvSpPr>
        <p:spPr>
          <a:xfrm>
            <a:off x="7290885" y="1386939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키보드를 이용하여 사용자가 직접 날짜를 입력할 수 있도록 직접 입력 필드 제공함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6C71076-A3EF-4EF6-AF11-9D809E22D830}"/>
              </a:ext>
            </a:extLst>
          </p:cNvPr>
          <p:cNvSpPr/>
          <p:nvPr/>
        </p:nvSpPr>
        <p:spPr>
          <a:xfrm>
            <a:off x="6427367" y="1386940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78D2BE2-1717-473E-BA39-D9FA9BD43CDE}"/>
              </a:ext>
            </a:extLst>
          </p:cNvPr>
          <p:cNvSpPr/>
          <p:nvPr/>
        </p:nvSpPr>
        <p:spPr>
          <a:xfrm>
            <a:off x="7290885" y="2053252"/>
            <a:ext cx="4492507" cy="61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일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,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월</a:t>
            </a:r>
            <a:r>
              <a:rPr lang="en-US" altLang="ko-KR" sz="1000" b="0" i="0" dirty="0">
                <a:solidFill>
                  <a:srgbClr val="1E2124"/>
                </a:solidFill>
                <a:effectLst/>
                <a:latin typeface="Pretendard GOV"/>
              </a:rPr>
              <a:t>, </a:t>
            </a:r>
            <a:r>
              <a:rPr lang="ko-KR" altLang="en-US" sz="1000" b="0" i="0" dirty="0">
                <a:solidFill>
                  <a:srgbClr val="1E2124"/>
                </a:solidFill>
                <a:effectLst/>
                <a:latin typeface="Pretendard GOV"/>
              </a:rPr>
              <a:t>연도와 같이 날짜 입력 필드의 레이블은 정확한 내용으로 제공해야 하며 프로그램적으로 입력 필드와 적절하게 연결함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7E9A91-4C69-4CD9-B394-0178395B3729}"/>
              </a:ext>
            </a:extLst>
          </p:cNvPr>
          <p:cNvSpPr/>
          <p:nvPr/>
        </p:nvSpPr>
        <p:spPr>
          <a:xfrm>
            <a:off x="6427367" y="2053253"/>
            <a:ext cx="778567" cy="6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5103A6-5B5C-406D-A656-D058678072D4}"/>
              </a:ext>
            </a:extLst>
          </p:cNvPr>
          <p:cNvSpPr txBox="1"/>
          <p:nvPr/>
        </p:nvSpPr>
        <p:spPr>
          <a:xfrm>
            <a:off x="7287546" y="3429000"/>
            <a:ext cx="4365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>
                <a:solidFill>
                  <a:srgbClr val="0070C0"/>
                </a:solidFill>
              </a:rPr>
              <a:t>일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월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연도와 같이 날짜 입력 필드는 </a:t>
            </a:r>
            <a:r>
              <a:rPr lang="en-US" altLang="ko-KR" sz="900" dirty="0">
                <a:solidFill>
                  <a:srgbClr val="0070C0"/>
                </a:solidFill>
              </a:rPr>
              <a:t>title </a:t>
            </a:r>
            <a:r>
              <a:rPr lang="ko-KR" altLang="en-US" sz="900" dirty="0">
                <a:solidFill>
                  <a:srgbClr val="0070C0"/>
                </a:solidFill>
              </a:rPr>
              <a:t>방식을 이용하여 레이블을 제공함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4E1A1A-C1B7-22F4-2BA3-2C250D341C92}"/>
              </a:ext>
            </a:extLst>
          </p:cNvPr>
          <p:cNvSpPr/>
          <p:nvPr/>
        </p:nvSpPr>
        <p:spPr>
          <a:xfrm>
            <a:off x="7150100" y="5525679"/>
            <a:ext cx="3511549" cy="395052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BC4994-E88D-4D1E-944C-B3B5FC9A0E24}"/>
              </a:ext>
            </a:extLst>
          </p:cNvPr>
          <p:cNvSpPr/>
          <p:nvPr/>
        </p:nvSpPr>
        <p:spPr>
          <a:xfrm>
            <a:off x="7150100" y="4328348"/>
            <a:ext cx="3511549" cy="395052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1FF78-468C-4F5C-96E7-3292EB0E5477}"/>
              </a:ext>
            </a:extLst>
          </p:cNvPr>
          <p:cNvSpPr txBox="1"/>
          <p:nvPr/>
        </p:nvSpPr>
        <p:spPr>
          <a:xfrm>
            <a:off x="538620" y="2844000"/>
            <a:ext cx="39501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5"/>
              </a:rPr>
              <a:t>금융감독원</a:t>
            </a:r>
            <a:r>
              <a:rPr lang="ko-KR" altLang="en-US" sz="1000" dirty="0"/>
              <a:t>   </a:t>
            </a:r>
            <a:r>
              <a:rPr lang="en-US" altLang="ko-KR" sz="1000" dirty="0"/>
              <a:t>Supervision &gt; Annual </a:t>
            </a:r>
            <a:r>
              <a:rPr lang="en-US" altLang="ko-KR" sz="1000" dirty="0" err="1"/>
              <a:t>Supervision·Examination</a:t>
            </a:r>
            <a:r>
              <a:rPr lang="en-US" altLang="ko-KR" sz="1000" dirty="0"/>
              <a:t> Plan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22426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77A4-9F7F-9DAD-648B-E8C65D6A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725B81C7-8381-E0E9-A466-54CB8B3F4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56000"/>
            <a:ext cx="6136437" cy="30914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2CCCB4D-A044-9BD7-FF71-88FB09456D24}"/>
              </a:ext>
            </a:extLst>
          </p:cNvPr>
          <p:cNvSpPr/>
          <p:nvPr/>
        </p:nvSpPr>
        <p:spPr>
          <a:xfrm>
            <a:off x="408608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4C13EF-E049-2345-8A1A-DE9467DAFE16}"/>
              </a:ext>
            </a:extLst>
          </p:cNvPr>
          <p:cNvSpPr/>
          <p:nvPr/>
        </p:nvSpPr>
        <p:spPr>
          <a:xfrm>
            <a:off x="7287546" y="965556"/>
            <a:ext cx="4501365" cy="371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FFFF00"/>
                </a:solidFill>
              </a:rPr>
              <a:t>사유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F888B1-EF4F-DD32-D597-903AFC9CD650}"/>
              </a:ext>
            </a:extLst>
          </p:cNvPr>
          <p:cNvSpPr/>
          <p:nvPr/>
        </p:nvSpPr>
        <p:spPr>
          <a:xfrm>
            <a:off x="408608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1-7. </a:t>
            </a:r>
            <a:r>
              <a:rPr lang="ko-KR" altLang="en-US" sz="1100" dirty="0">
                <a:solidFill>
                  <a:schemeClr val="tx1"/>
                </a:solidFill>
              </a:rPr>
              <a:t>설정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538C2A2-29C4-D343-2463-6410AFB13126}"/>
              </a:ext>
            </a:extLst>
          </p:cNvPr>
          <p:cNvCxnSpPr/>
          <p:nvPr/>
        </p:nvCxnSpPr>
        <p:spPr>
          <a:xfrm>
            <a:off x="408607" y="522514"/>
            <a:ext cx="11374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01AD008-F7B2-A667-09DB-041D96B4CE01}"/>
              </a:ext>
            </a:extLst>
          </p:cNvPr>
          <p:cNvSpPr txBox="1"/>
          <p:nvPr/>
        </p:nvSpPr>
        <p:spPr>
          <a:xfrm>
            <a:off x="408607" y="111953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진단목록 및 결과</a:t>
            </a:r>
            <a:r>
              <a:rPr lang="en-US" altLang="ko-KR" dirty="0"/>
              <a:t>_ </a:t>
            </a:r>
            <a:r>
              <a:rPr lang="ko-KR" altLang="en-US" dirty="0"/>
              <a:t>진단결과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DC7A4-2F3C-9E13-73A2-94D88B88D055}"/>
              </a:ext>
            </a:extLst>
          </p:cNvPr>
          <p:cNvSpPr txBox="1"/>
          <p:nvPr/>
        </p:nvSpPr>
        <p:spPr>
          <a:xfrm>
            <a:off x="408607" y="59290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진단결과</a:t>
            </a:r>
            <a:r>
              <a:rPr lang="en-US" altLang="ko-KR" sz="1400" dirty="0"/>
              <a:t>_1. </a:t>
            </a:r>
            <a:r>
              <a:rPr lang="ko-KR" altLang="en-US" sz="1400" dirty="0"/>
              <a:t>컴포넌트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9D13E7-0E00-C349-B547-FAC83DC8ECC7}"/>
              </a:ext>
            </a:extLst>
          </p:cNvPr>
          <p:cNvSpPr/>
          <p:nvPr/>
        </p:nvSpPr>
        <p:spPr>
          <a:xfrm>
            <a:off x="2374075" y="965556"/>
            <a:ext cx="3984958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진단항목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4A54D6-67BD-9A31-C926-E4182BCAE69B}"/>
              </a:ext>
            </a:extLst>
          </p:cNvPr>
          <p:cNvSpPr/>
          <p:nvPr/>
        </p:nvSpPr>
        <p:spPr>
          <a:xfrm>
            <a:off x="6433686" y="965556"/>
            <a:ext cx="778567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준수여부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A63A95-E186-F7C7-C88A-BDC7DA018154}"/>
              </a:ext>
            </a:extLst>
          </p:cNvPr>
          <p:cNvSpPr/>
          <p:nvPr/>
        </p:nvSpPr>
        <p:spPr>
          <a:xfrm>
            <a:off x="1391341" y="965556"/>
            <a:ext cx="914400" cy="371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BE1EC57-7196-D233-A57D-B579997639B7}"/>
              </a:ext>
            </a:extLst>
          </p:cNvPr>
          <p:cNvSpPr/>
          <p:nvPr/>
        </p:nvSpPr>
        <p:spPr>
          <a:xfrm>
            <a:off x="1391341" y="1386940"/>
            <a:ext cx="914400" cy="1282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1-7-1.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언어 변경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93F53A-7DCB-F56A-D782-0AB72735920D}"/>
              </a:ext>
            </a:extLst>
          </p:cNvPr>
          <p:cNvSpPr/>
          <p:nvPr/>
        </p:nvSpPr>
        <p:spPr>
          <a:xfrm>
            <a:off x="408606" y="2719852"/>
            <a:ext cx="11374785" cy="3978463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AA5A38-883B-38D2-3A80-19378A96D81F}"/>
              </a:ext>
            </a:extLst>
          </p:cNvPr>
          <p:cNvSpPr txBox="1"/>
          <p:nvPr/>
        </p:nvSpPr>
        <p:spPr>
          <a:xfrm>
            <a:off x="538620" y="2844000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linkClick r:id="rId4"/>
              </a:rPr>
              <a:t>금융감독원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B7AFFF-3861-18F8-55CA-A53DD5009A13}"/>
              </a:ext>
            </a:extLst>
          </p:cNvPr>
          <p:cNvSpPr/>
          <p:nvPr/>
        </p:nvSpPr>
        <p:spPr>
          <a:xfrm rot="10800000" flipV="1">
            <a:off x="10889286" y="2781794"/>
            <a:ext cx="830666" cy="18881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준수사례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AC0AFC-96E5-46D9-C1BD-CB73C170CDB8}"/>
              </a:ext>
            </a:extLst>
          </p:cNvPr>
          <p:cNvSpPr/>
          <p:nvPr/>
        </p:nvSpPr>
        <p:spPr>
          <a:xfrm>
            <a:off x="2374075" y="1386941"/>
            <a:ext cx="3984958" cy="128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1-7-1.1 </a:t>
            </a:r>
            <a:r>
              <a:rPr lang="ko-KR" altLang="en-US" sz="1000" dirty="0">
                <a:solidFill>
                  <a:schemeClr val="tx1"/>
                </a:solidFill>
              </a:rPr>
              <a:t>링크에 </a:t>
            </a:r>
            <a:r>
              <a:rPr lang="en-US" altLang="ko-KR" sz="1000" dirty="0">
                <a:solidFill>
                  <a:schemeClr val="tx1"/>
                </a:solidFill>
              </a:rPr>
              <a:t>lang </a:t>
            </a:r>
            <a:r>
              <a:rPr lang="ko-KR" altLang="en-US" sz="1000" dirty="0">
                <a:solidFill>
                  <a:schemeClr val="tx1"/>
                </a:solidFill>
              </a:rPr>
              <a:t>속성을 선언하고 레이블과 일치하는 언어 코드를 속성값으로 제공해야 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635207-5D8F-725A-B238-0A352DAED5C7}"/>
              </a:ext>
            </a:extLst>
          </p:cNvPr>
          <p:cNvSpPr/>
          <p:nvPr/>
        </p:nvSpPr>
        <p:spPr>
          <a:xfrm>
            <a:off x="7290885" y="1386939"/>
            <a:ext cx="4492507" cy="128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스크린 리더가 </a:t>
            </a:r>
            <a:r>
              <a:rPr lang="en-US" altLang="ko-KR" sz="1000" dirty="0">
                <a:solidFill>
                  <a:schemeClr val="tx1"/>
                </a:solidFill>
              </a:rPr>
              <a:t>lang </a:t>
            </a:r>
            <a:r>
              <a:rPr lang="ko-KR" altLang="en-US" sz="1000" dirty="0">
                <a:solidFill>
                  <a:schemeClr val="tx1"/>
                </a:solidFill>
              </a:rPr>
              <a:t>속성값으로 제공된 언어 코드를 식별하여 해당 언어에 맞는 발음과 억양으로 레이블을 읽어 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3BA4F8C-6BC5-42A2-E4F9-E6FDB5041EAD}"/>
              </a:ext>
            </a:extLst>
          </p:cNvPr>
          <p:cNvSpPr/>
          <p:nvPr/>
        </p:nvSpPr>
        <p:spPr>
          <a:xfrm>
            <a:off x="6427367" y="1386940"/>
            <a:ext cx="778567" cy="12816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</a:rPr>
              <a:t>준수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1F2C40-65A7-C458-AA00-D140D35E1D01}"/>
              </a:ext>
            </a:extLst>
          </p:cNvPr>
          <p:cNvSpPr txBox="1"/>
          <p:nvPr/>
        </p:nvSpPr>
        <p:spPr>
          <a:xfrm>
            <a:off x="6938785" y="3429000"/>
            <a:ext cx="436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</a:rPr>
              <a:t>1. </a:t>
            </a:r>
            <a:r>
              <a:rPr lang="ko-KR" altLang="en-US" sz="900" dirty="0">
                <a:solidFill>
                  <a:srgbClr val="0070C0"/>
                </a:solidFill>
              </a:rPr>
              <a:t>서비스가 </a:t>
            </a:r>
            <a:r>
              <a:rPr lang="en-US" altLang="ko-KR" sz="900" dirty="0">
                <a:solidFill>
                  <a:srgbClr val="0070C0"/>
                </a:solidFill>
              </a:rPr>
              <a:t>2</a:t>
            </a:r>
            <a:r>
              <a:rPr lang="ko-KR" altLang="en-US" sz="900" dirty="0">
                <a:solidFill>
                  <a:srgbClr val="0070C0"/>
                </a:solidFill>
              </a:rPr>
              <a:t>개의 언어를 지원하는 경우</a:t>
            </a:r>
            <a:r>
              <a:rPr lang="en-US" altLang="ko-KR" sz="900" dirty="0">
                <a:solidFill>
                  <a:srgbClr val="0070C0"/>
                </a:solidFill>
              </a:rPr>
              <a:t>, </a:t>
            </a:r>
            <a:r>
              <a:rPr lang="ko-KR" altLang="en-US" sz="900" dirty="0">
                <a:solidFill>
                  <a:srgbClr val="0070C0"/>
                </a:solidFill>
              </a:rPr>
              <a:t>두 언어 간 표시를 전환할 때 사용함</a:t>
            </a:r>
            <a:endParaRPr lang="en-US" altLang="ko-KR" sz="900" dirty="0">
              <a:solidFill>
                <a:srgbClr val="0070C0"/>
              </a:solidFill>
            </a:endParaRPr>
          </a:p>
          <a:p>
            <a:r>
              <a:rPr lang="en-US" altLang="ko-KR" sz="900" dirty="0">
                <a:solidFill>
                  <a:srgbClr val="0070C0"/>
                </a:solidFill>
              </a:rPr>
              <a:t>2. </a:t>
            </a:r>
            <a:r>
              <a:rPr lang="ko-KR" altLang="en-US" sz="900" dirty="0">
                <a:solidFill>
                  <a:srgbClr val="0070C0"/>
                </a:solidFill>
              </a:rPr>
              <a:t>링크로 </a:t>
            </a:r>
            <a:r>
              <a:rPr lang="ko-KR" altLang="en-US" sz="900" dirty="0" err="1">
                <a:solidFill>
                  <a:srgbClr val="0070C0"/>
                </a:solidFill>
              </a:rPr>
              <a:t>마크업되어</a:t>
            </a:r>
            <a:r>
              <a:rPr lang="ko-KR" altLang="en-US" sz="900" dirty="0">
                <a:solidFill>
                  <a:srgbClr val="0070C0"/>
                </a:solidFill>
              </a:rPr>
              <a:t> 있음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855E15A-D92D-7659-5748-3A3031A3C994}"/>
              </a:ext>
            </a:extLst>
          </p:cNvPr>
          <p:cNvSpPr/>
          <p:nvPr/>
        </p:nvSpPr>
        <p:spPr>
          <a:xfrm>
            <a:off x="1333734" y="3422650"/>
            <a:ext cx="418977" cy="309543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626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4985</TotalTime>
  <Words>2766</Words>
  <Application>Microsoft Office PowerPoint</Application>
  <PresentationFormat>와이드스크린</PresentationFormat>
  <Paragraphs>573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Pretendard GOV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DONGJIN PARK</dc:creator>
  <cp:lastModifiedBy>kameoGram</cp:lastModifiedBy>
  <cp:revision>1122</cp:revision>
  <dcterms:created xsi:type="dcterms:W3CDTF">2026-01-16T04:53:16Z</dcterms:created>
  <dcterms:modified xsi:type="dcterms:W3CDTF">2026-02-06T01:56:31Z</dcterms:modified>
</cp:coreProperties>
</file>